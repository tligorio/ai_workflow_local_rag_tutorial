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20" r:id="rId1"/>
  </p:sldMasterIdLst>
  <p:notesMasterIdLst>
    <p:notesMasterId r:id="rId33"/>
  </p:notesMasterIdLst>
  <p:sldIdLst>
    <p:sldId id="256" r:id="rId2"/>
    <p:sldId id="340" r:id="rId3"/>
    <p:sldId id="284" r:id="rId4"/>
    <p:sldId id="282" r:id="rId5"/>
    <p:sldId id="333" r:id="rId6"/>
    <p:sldId id="332" r:id="rId7"/>
    <p:sldId id="334" r:id="rId8"/>
    <p:sldId id="356" r:id="rId9"/>
    <p:sldId id="348" r:id="rId10"/>
    <p:sldId id="349" r:id="rId11"/>
    <p:sldId id="276" r:id="rId12"/>
    <p:sldId id="350" r:id="rId13"/>
    <p:sldId id="351" r:id="rId14"/>
    <p:sldId id="346" r:id="rId15"/>
    <p:sldId id="305" r:id="rId16"/>
    <p:sldId id="289" r:id="rId17"/>
    <p:sldId id="327" r:id="rId18"/>
    <p:sldId id="352" r:id="rId19"/>
    <p:sldId id="331" r:id="rId20"/>
    <p:sldId id="330" r:id="rId21"/>
    <p:sldId id="341" r:id="rId22"/>
    <p:sldId id="345" r:id="rId23"/>
    <p:sldId id="307" r:id="rId24"/>
    <p:sldId id="308" r:id="rId25"/>
    <p:sldId id="306" r:id="rId26"/>
    <p:sldId id="347" r:id="rId27"/>
    <p:sldId id="313" r:id="rId28"/>
    <p:sldId id="314" r:id="rId29"/>
    <p:sldId id="353" r:id="rId30"/>
    <p:sldId id="354" r:id="rId31"/>
    <p:sldId id="355"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561"/>
    <p:restoredTop sz="70993"/>
  </p:normalViewPr>
  <p:slideViewPr>
    <p:cSldViewPr snapToGrid="0">
      <p:cViewPr varScale="1">
        <p:scale>
          <a:sx n="85" d="100"/>
          <a:sy n="85" d="100"/>
        </p:scale>
        <p:origin x="6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FCF6FB-5B45-F843-B9EE-A96F5CCB3278}" type="datetimeFigureOut">
              <a:rPr lang="en-IT" smtClean="0"/>
              <a:t>30/09/26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ECFC32-24FD-EF46-9684-E95F2D22518B}" type="slidenum">
              <a:rPr lang="en-IT" smtClean="0"/>
              <a:t>‹#›</a:t>
            </a:fld>
            <a:endParaRPr lang="en-IT"/>
          </a:p>
        </p:txBody>
      </p:sp>
    </p:spTree>
    <p:extLst>
      <p:ext uri="{BB962C8B-B14F-4D97-AF65-F5344CB8AC3E}">
        <p14:creationId xmlns:p14="http://schemas.microsoft.com/office/powerpoint/2010/main" val="1387728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quick taxonomy. A pipeline/chain is a deterministic workflow — a fixed sequence, no decisions. A ReAct agent alternates reasoning and action in a loop. Planner-executor / hierarchical agents split planning from execution. Collaborative systems are multiple autonomous agents with their own roles and memory — the multi-agent topic later in the course. Environment-driven / embodied agents act in a real or simulated world. Today we focus on the ReAct row.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33ECFC32-24FD-EF46-9684-E95F2D22518B}" type="slidenum">
              <a:rPr lang="en-IT" smtClean="0"/>
              <a:t>4</a:t>
            </a:fld>
            <a:endParaRPr lang="en-IT"/>
          </a:p>
        </p:txBody>
      </p:sp>
    </p:spTree>
    <p:extLst>
      <p:ext uri="{BB962C8B-B14F-4D97-AF65-F5344CB8AC3E}">
        <p14:creationId xmlns:p14="http://schemas.microsoft.com/office/powerpoint/2010/main" val="1071382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its own an LLM only produces text. An agent wraps it with three capabilities: a reasoning system to plan and self-correct, tools to act on the world and read back results, and memory to carry information across steps. The next slides take each in turn.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reasoning system decomposes a task into subtasks, reflects on past actions, critically assesses progress, and adjusts the plan from feedback. Decomposition can happen up front, be interleaved with acting (CoT, ReAct), or be planned in parallel and merged (DPPM). Failure modes to watch: constraints across subtasks, errors carried forward, losing the main goal, weak cohesion. (Diagram: de Lamo Castrillo et al., 2025.)</a:t>
            </a:r>
          </a:p>
        </p:txBody>
      </p:sp>
      <p:sp>
        <p:nvSpPr>
          <p:cNvPr id="4" name="Slide Number Placeholder 3"/>
          <p:cNvSpPr>
            <a:spLocks noGrp="1"/>
          </p:cNvSpPr>
          <p:nvPr>
            <p:ph type="sldNum" sz="quarter" idx="5"/>
          </p:nvPr>
        </p:nvSpPr>
        <p:spPr/>
        <p:txBody>
          <a:bodyPr/>
          <a:lstStyle/>
          <a:p>
            <a:fld id="{33ECFC32-24FD-EF46-9684-E95F2D22518B}" type="slidenum">
              <a:rPr lang="en-IT" smtClean="0"/>
              <a:t>6</a:t>
            </a:fld>
            <a:endParaRPr lang="en-IT"/>
          </a:p>
        </p:txBody>
      </p:sp>
    </p:spTree>
    <p:extLst>
      <p:ext uri="{BB962C8B-B14F-4D97-AF65-F5344CB8AC3E}">
        <p14:creationId xmlns:p14="http://schemas.microsoft.com/office/powerpoint/2010/main" val="3866147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perception/action system is how the agent affects and senses the world: taking actions, deciding when and which tool to use, and folding tool results back into its context. It is the bridge between the model's reasoning and the tools we cover next.</a:t>
            </a:r>
          </a:p>
        </p:txBody>
      </p:sp>
      <p:sp>
        <p:nvSpPr>
          <p:cNvPr id="4" name="Slide Number Placeholder 3"/>
          <p:cNvSpPr>
            <a:spLocks noGrp="1"/>
          </p:cNvSpPr>
          <p:nvPr>
            <p:ph type="sldNum" sz="quarter" idx="5"/>
          </p:nvPr>
        </p:nvSpPr>
        <p:spPr/>
        <p:txBody>
          <a:bodyPr/>
          <a:lstStyle/>
          <a:p>
            <a:fld id="{33ECFC32-24FD-EF46-9684-E95F2D22518B}" type="slidenum">
              <a:rPr lang="en-IT" smtClean="0"/>
              <a:t>7</a:t>
            </a:fld>
            <a:endParaRPr lang="en-IT"/>
          </a:p>
        </p:txBody>
      </p:sp>
    </p:spTree>
    <p:extLst>
      <p:ext uri="{BB962C8B-B14F-4D97-AF65-F5344CB8AC3E}">
        <p14:creationId xmlns:p14="http://schemas.microsoft.com/office/powerpoint/2010/main" val="1779539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Short-term memory is the context window — working memory that enables in-context learning within a session. Long-term memory lives in external stores such as a vector database that persist and accumulate across sessions. Agents store several kinds of data: experiences, reusable procedures, factual knowledge, and user information. We go deeper on managing context next lecture.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Chain-of-thought reasons but can't act or fetch facts, so it hallucinates when it lacks information. Acting alone calls tools but can't deliberate or recover from a bad result. ReAct interleaves the two — think, act, observe, think again — which keeps the agent grounded in real observations, lets it self-correct, and makes its behavior interpretable.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ReAct (Yao et al., 2022) synergizes reasoning and acting. The agent loops: it thinks, optionally acts by calling a tool, observes the result, and reflects — repeating until it decides it has the answer. At each step the model decides whether and which tool to use. This loop is the core pattern the rest of the lecture builds on.</a:t>
            </a:r>
          </a:p>
        </p:txBody>
      </p:sp>
      <p:sp>
        <p:nvSpPr>
          <p:cNvPr id="4" name="Slide Number Placeholder 3"/>
          <p:cNvSpPr>
            <a:spLocks noGrp="1"/>
          </p:cNvSpPr>
          <p:nvPr>
            <p:ph type="sldNum" sz="quarter" idx="5"/>
          </p:nvPr>
        </p:nvSpPr>
        <p:spPr/>
        <p:txBody>
          <a:bodyPr/>
          <a:lstStyle/>
          <a:p>
            <a:fld id="{33ECFC32-24FD-EF46-9684-E95F2D22518B}" type="slidenum">
              <a:rPr lang="en-IT" smtClean="0"/>
              <a:t>11</a:t>
            </a:fld>
            <a:endParaRPr lang="en-IT"/>
          </a:p>
        </p:txBody>
      </p:sp>
    </p:spTree>
    <p:extLst>
      <p:ext uri="{BB962C8B-B14F-4D97-AF65-F5344CB8AC3E}">
        <p14:creationId xmlns:p14="http://schemas.microsoft.com/office/powerpoint/2010/main" val="897508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concrete trace: the user asks for an 18% tip on $86.40 split three ways. The agent thinks (compute the tip), acts (calls the calculator), observes 15.55, thinks again (total, then divide), acts, observes 33.98, and answers. Each Action is a tool call; each Observation is the result fed back into the next Thought.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open loop can run forever or take unsafe actions, so it needs explicit controls: a max-step or token budget so it stops and returns best effort or asks the user; retry-with-cap on tool errors instead of looping; human-in-the-loop approval before irreversible or costly actions; and clear stop conditions such as a detected final answer. This resolves the autonomy-vs-control tradeoff.</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Tools, functions, and actions are the same idea: capabilities the agent can invoke. Tool use is also called function calling. An agent may have several tools and decides, at each step, whether and which to call, emitting a function-call request. In practice keep each agent's tool set small and specialized — too many overlapping tools degrade selection.</a:t>
            </a:r>
          </a:p>
        </p:txBody>
      </p:sp>
      <p:sp>
        <p:nvSpPr>
          <p:cNvPr id="4" name="Slide Number Placeholder 3"/>
          <p:cNvSpPr>
            <a:spLocks noGrp="1"/>
          </p:cNvSpPr>
          <p:nvPr>
            <p:ph type="sldNum" sz="quarter" idx="5"/>
          </p:nvPr>
        </p:nvSpPr>
        <p:spPr/>
        <p:txBody>
          <a:bodyPr/>
          <a:lstStyle/>
          <a:p>
            <a:fld id="{33ECFC32-24FD-EF46-9684-E95F2D22518B}" type="slidenum">
              <a:rPr lang="en-IT" smtClean="0"/>
              <a:t>15</a:t>
            </a:fld>
            <a:endParaRPr lang="en-IT"/>
          </a:p>
        </p:txBody>
      </p:sp>
    </p:spTree>
    <p:extLst>
      <p:ext uri="{BB962C8B-B14F-4D97-AF65-F5344CB8AC3E}">
        <p14:creationId xmlns:p14="http://schemas.microsoft.com/office/powerpoint/2010/main" val="2926120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(or developer) message is the agent's policy — it teaches the model how to think and act. In practice it contains the tool list and schemas, rules and priority order for when and how to call tools, error-handling and retry rules, formatting constraints such as JSON-only, and stop conditions. Some setups split this across system vs developer messages, but the role is the same.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 tools aren't invoked like ordinary Python functions — they're called via structured JSON the model must construct correctly. Each tool is described as a JSON object: a name, a short description of what it does and when to use it, and a parameters schema describing the exact shape of the argument object. The next slide shows the full anatomy of a call.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Tools aren't called like Python functions — the model emits structured JSON. First the tool is defined by a schema (name, description, parameters). Then the model constructs a call matching that schema. Then the runtime executes the function and returns the result as an observation. The model's job is to produce valid JSON that matches the schema.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concrete tool definition: a calculator whose description tells the model what it does and when to use it, a reference to the function that actually runs, and a parameters schema — an object with a required 'expression' string. This is the JSON structure from the previous slide, filled in.</a:t>
            </a:r>
          </a:p>
        </p:txBody>
      </p:sp>
      <p:sp>
        <p:nvSpPr>
          <p:cNvPr id="4" name="Slide Number Placeholder 3"/>
          <p:cNvSpPr>
            <a:spLocks noGrp="1"/>
          </p:cNvSpPr>
          <p:nvPr>
            <p:ph type="sldNum" sz="quarter" idx="5"/>
          </p:nvPr>
        </p:nvSpPr>
        <p:spPr/>
        <p:txBody>
          <a:bodyPr/>
          <a:lstStyle/>
          <a:p>
            <a:fld id="{33ECFC32-24FD-EF46-9684-E95F2D22518B}" type="slidenum">
              <a:rPr lang="en-IT" smtClean="0"/>
              <a:t>19</a:t>
            </a:fld>
            <a:endParaRPr lang="en-IT"/>
          </a:p>
        </p:txBody>
      </p:sp>
    </p:spTree>
    <p:extLst>
      <p:ext uri="{BB962C8B-B14F-4D97-AF65-F5344CB8AC3E}">
        <p14:creationId xmlns:p14="http://schemas.microsoft.com/office/powerpoint/2010/main" val="3540590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top-level tool object (its name and description) communicates what the tool is for and when it should be used — this is what steers the model's choice. The parameters field then defines the exact shape of the argument object the model must build: always an object, with typed properties and a required list. Good descriptions matter as much as the code behind the tool.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coding walkthrough: wiring the loop, defining the calculator tool, and watching the Think/Act/Observe steps run.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common ways to give an agent tools. Custom tools: you write your own functions and the agent calls them directly — most control, most maintenance. Framework integrations: LangChain, LlamaIndex and similar ship built-in wrappers you reuse. MCP (Model Context Protocol): an open standard that standardizes the connection so any MCP client can use any MCP server's tools. Underneath, all three are the same idea.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MCP, every agent needed custom wrappers to talk to each tool. MCP (Model Context Protocol, proposed by Anthropic in Nov 2024) is an open, widely adopted standard that standardizes that connection — like a USB port for tools: each tool exposes its capabilities the same way, so any client can use any server. (Diagram source: Norah Sakal's blog.)</a:t>
            </a:r>
          </a:p>
        </p:txBody>
      </p:sp>
      <p:sp>
        <p:nvSpPr>
          <p:cNvPr id="4" name="Slide Number Placeholder 3"/>
          <p:cNvSpPr>
            <a:spLocks noGrp="1"/>
          </p:cNvSpPr>
          <p:nvPr>
            <p:ph type="sldNum" sz="quarter" idx="5"/>
          </p:nvPr>
        </p:nvSpPr>
        <p:spPr/>
        <p:txBody>
          <a:bodyPr/>
          <a:lstStyle/>
          <a:p>
            <a:fld id="{33ECFC32-24FD-EF46-9684-E95F2D22518B}" type="slidenum">
              <a:rPr lang="en-IT" smtClean="0"/>
              <a:t>23</a:t>
            </a:fld>
            <a:endParaRPr lang="en-IT"/>
          </a:p>
        </p:txBody>
      </p:sp>
    </p:spTree>
    <p:extLst>
      <p:ext uri="{BB962C8B-B14F-4D97-AF65-F5344CB8AC3E}">
        <p14:creationId xmlns:p14="http://schemas.microsoft.com/office/powerpoint/2010/main" val="1878204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MCP has two roles. The client is the agent, which opens a secure, one-to-one connection to each server. The server is a program that exposes a tool's capabilities through the standardized protocol. A server can expose three things: tools (actions the agent can perform), resources (files, documents, or query results it can load into context), and prompts (reusable templates). Servers are found via the official registry, directories like mcp.so and glama.ai, or the community.</a:t>
            </a:r>
          </a:p>
        </p:txBody>
      </p:sp>
      <p:sp>
        <p:nvSpPr>
          <p:cNvPr id="4" name="Slide Number Placeholder 3"/>
          <p:cNvSpPr>
            <a:spLocks noGrp="1"/>
          </p:cNvSpPr>
          <p:nvPr>
            <p:ph type="sldNum" sz="quarter" idx="5"/>
          </p:nvPr>
        </p:nvSpPr>
        <p:spPr/>
        <p:txBody>
          <a:bodyPr/>
          <a:lstStyle/>
          <a:p>
            <a:fld id="{33ECFC32-24FD-EF46-9684-E95F2D22518B}" type="slidenum">
              <a:rPr lang="en-IT" smtClean="0"/>
              <a:t>24</a:t>
            </a:fld>
            <a:endParaRPr lang="en-IT"/>
          </a:p>
        </p:txBody>
      </p:sp>
    </p:spTree>
    <p:extLst>
      <p:ext uri="{BB962C8B-B14F-4D97-AF65-F5344CB8AC3E}">
        <p14:creationId xmlns:p14="http://schemas.microsoft.com/office/powerpoint/2010/main" val="27208555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LLMs are increasingly strong at writing code, and code is a structured, well-defined action space that pre- and post-training heavily optimize. Giving an agent the ability to write and run code lets it extend itself, build its own tools, and run reflection loops — high autonomy and range, at the cost of control and predictability.</a:t>
            </a:r>
          </a:p>
        </p:txBody>
      </p:sp>
      <p:sp>
        <p:nvSpPr>
          <p:cNvPr id="4" name="Slide Number Placeholder 3"/>
          <p:cNvSpPr>
            <a:spLocks noGrp="1"/>
          </p:cNvSpPr>
          <p:nvPr>
            <p:ph type="sldNum" sz="quarter" idx="5"/>
          </p:nvPr>
        </p:nvSpPr>
        <p:spPr/>
        <p:txBody>
          <a:bodyPr/>
          <a:lstStyle/>
          <a:p>
            <a:fld id="{33ECFC32-24FD-EF46-9684-E95F2D22518B}" type="slidenum">
              <a:rPr lang="en-IT" smtClean="0"/>
              <a:t>25</a:t>
            </a:fld>
            <a:endParaRPr lang="en-IT"/>
          </a:p>
        </p:txBody>
      </p:sp>
    </p:spTree>
    <p:extLst>
      <p:ext uri="{BB962C8B-B14F-4D97-AF65-F5344CB8AC3E}">
        <p14:creationId xmlns:p14="http://schemas.microsoft.com/office/powerpoint/2010/main" val="9856452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planning pattern: ask the LLM to break the problem into an ordered, actionable plan, then execute each step — often mapping each step to a tool call. The plan is produced up front; execution follows it.</a:t>
            </a:r>
          </a:p>
        </p:txBody>
      </p:sp>
      <p:sp>
        <p:nvSpPr>
          <p:cNvPr id="4" name="Slide Number Placeholder 3"/>
          <p:cNvSpPr>
            <a:spLocks noGrp="1"/>
          </p:cNvSpPr>
          <p:nvPr>
            <p:ph type="sldNum" sz="quarter" idx="5"/>
          </p:nvPr>
        </p:nvSpPr>
        <p:spPr/>
        <p:txBody>
          <a:bodyPr/>
          <a:lstStyle/>
          <a:p>
            <a:fld id="{33ECFC32-24FD-EF46-9684-E95F2D22518B}" type="slidenum">
              <a:rPr lang="en-IT" smtClean="0"/>
              <a:t>27</a:t>
            </a:fld>
            <a:endParaRPr lang="en-IT"/>
          </a:p>
        </p:txBody>
      </p:sp>
    </p:spTree>
    <p:extLst>
      <p:ext uri="{BB962C8B-B14F-4D97-AF65-F5344CB8AC3E}">
        <p14:creationId xmlns:p14="http://schemas.microsoft.com/office/powerpoint/2010/main" val="4202886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variant: ask the LLM to write code that carries out the steps, then execute it. It works very well for coding agents but is less mature elsewhere. It gives high autonomy and expands what the agent can do, but lowers control — behavior is harder to predict and constrain.</a:t>
            </a:r>
          </a:p>
        </p:txBody>
      </p:sp>
      <p:sp>
        <p:nvSpPr>
          <p:cNvPr id="4" name="Slide Number Placeholder 3"/>
          <p:cNvSpPr>
            <a:spLocks noGrp="1"/>
          </p:cNvSpPr>
          <p:nvPr>
            <p:ph type="sldNum" sz="quarter" idx="5"/>
          </p:nvPr>
        </p:nvSpPr>
        <p:spPr/>
        <p:txBody>
          <a:bodyPr/>
          <a:lstStyle/>
          <a:p>
            <a:fld id="{33ECFC32-24FD-EF46-9684-E95F2D22518B}" type="slidenum">
              <a:rPr lang="en-IT" smtClean="0"/>
              <a:t>28</a:t>
            </a:fld>
            <a:endParaRPr lang="en-IT"/>
          </a:p>
        </p:txBody>
      </p:sp>
    </p:spTree>
    <p:extLst>
      <p:ext uri="{BB962C8B-B14F-4D97-AF65-F5344CB8AC3E}">
        <p14:creationId xmlns:p14="http://schemas.microsoft.com/office/powerpoint/2010/main" val="24067310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control patterns. ReAct interleaves: it decides one step at a time and adapts to each observation — robust to surprises, but more LLM calls. Plan-then-execute produces the whole plan first and runs it — fewer calls, more predictable and efficient, but brittle if reality diverges, though it can re-plan. Choose based on how uncertain the environment is.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of the agent loop and where it leads. The ReAct loop is Reason -&gt; Act -&gt; Observe until done. Tools extend the agent's reach and are defined and called as structured JSON, with MCP standardizing the connection. Planning ranges from interleaved (ReAct) to plan-then-execute. Guardrails keep the loop safe and bounded. Next we cover Context Engineering — managing what's in the context window — and then Multi-agent systems.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l">
              <a:buNone/>
              <a:defRPr sz="2400"/>
            </a:lvl1pPr>
            <a:lvl2pPr marL="457200" indent="0" algn="l">
              <a:buNone/>
              <a:defRPr sz="2000"/>
            </a:lvl2pPr>
            <a:lvl3pPr marL="914400" indent="0" algn="l">
              <a:buNone/>
              <a:defRPr sz="1800"/>
            </a:lvl3pPr>
            <a:lvl4pPr marL="1371600" indent="0" algn="l">
              <a:buNone/>
              <a:defRPr sz="1600"/>
            </a:lvl4pPr>
            <a:lvl5pPr marL="1828800" indent="0" algn="l">
              <a:buNone/>
              <a:defRPr sz="1600"/>
            </a:lvl5pPr>
            <a:lvl6pPr marL="2286000" indent="0" algn="l">
              <a:buNone/>
              <a:defRPr sz="1600"/>
            </a:lvl6pPr>
            <a:lvl7pPr marL="2743200" indent="0" algn="l">
              <a:buNone/>
              <a:defRPr sz="1600"/>
            </a:lvl7pPr>
            <a:lvl8pPr marL="3200400" indent="0" algn="l">
              <a:buNone/>
              <a:defRPr sz="1600"/>
            </a:lvl8pPr>
            <a:lvl9pPr marL="3657600" indent="0" algn="l">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2D84FAB-A758-3045-9605-E0C4D7EAA8B1}" type="datetime1">
              <a:rPr lang="it-IT" smtClean="0"/>
              <a:t>30/09/26</a:t>
            </a:fld>
            <a:endParaRPr lang="en-US" dirty="0"/>
          </a:p>
        </p:txBody>
      </p:sp>
      <p:sp>
        <p:nvSpPr>
          <p:cNvPr id="5" name="Footer Placeholder 4"/>
          <p:cNvSpPr>
            <a:spLocks noGrp="1"/>
          </p:cNvSpPr>
          <p:nvPr>
            <p:ph type="ftr" sz="quarter" idx="11"/>
          </p:nvPr>
        </p:nvSpPr>
        <p:spPr/>
        <p:txBody>
          <a:bodyPr/>
          <a:lstStyle/>
          <a:p>
            <a:r>
              <a:rPr lang="en-US"/>
              <a:t>Ligorio - AI Agents</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46093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3863CE3-CA2B-2342-9CDF-0FE833A4351E}" type="datetime1">
              <a:rPr lang="it-IT" smtClean="0"/>
              <a:t>30/09/26</a:t>
            </a:fld>
            <a:endParaRPr lang="en-US" dirty="0"/>
          </a:p>
        </p:txBody>
      </p:sp>
      <p:sp>
        <p:nvSpPr>
          <p:cNvPr id="5" name="Footer Placeholder 4"/>
          <p:cNvSpPr>
            <a:spLocks noGrp="1"/>
          </p:cNvSpPr>
          <p:nvPr>
            <p:ph type="ftr" sz="quarter" idx="11"/>
          </p:nvPr>
        </p:nvSpPr>
        <p:spPr/>
        <p:txBody>
          <a:bodyPr/>
          <a:lstStyle/>
          <a:p>
            <a:r>
              <a:rPr lang="en-US"/>
              <a:t>Ligorio - AI Agents</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900" name="Title Rule"/>
          <p:cNvSpPr>
            <a:spLocks noGrp="1"/>
          </p:cNvSpPr>
          <p:nvPr/>
        </p:nvSpPr>
        <p:spPr>
          <a:xfrm>
            <a:off x="438150" y="1190625"/>
            <a:ext cx="11068050" cy="19050"/>
          </a:xfrm>
          <a:prstGeom prst="rect">
            <a:avLst/>
          </a:prstGeom>
          <a:solidFill>
            <a:srgbClr val="D9D4C8"/>
          </a:solidFill>
          <a:ln>
            <a:noFill/>
          </a:ln>
        </p:spPr>
        <p:txBody>
          <a:bodyPr/>
          <a:lstStyle/>
          <a:p>
            <a:endParaRPr lang="en-US"/>
          </a:p>
        </p:txBody>
      </p:sp>
    </p:spTree>
    <p:extLst>
      <p:ext uri="{BB962C8B-B14F-4D97-AF65-F5344CB8AC3E}">
        <p14:creationId xmlns:p14="http://schemas.microsoft.com/office/powerpoint/2010/main" val="548821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9B27F99-EBD9-FC40-8D81-076A3E0B43B3}" type="datetime1">
              <a:rPr lang="it-IT" smtClean="0"/>
              <a:t>30/09/26</a:t>
            </a:fld>
            <a:endParaRPr lang="en-US" dirty="0"/>
          </a:p>
        </p:txBody>
      </p:sp>
      <p:sp>
        <p:nvSpPr>
          <p:cNvPr id="5" name="Footer Placeholder 4"/>
          <p:cNvSpPr>
            <a:spLocks noGrp="1"/>
          </p:cNvSpPr>
          <p:nvPr>
            <p:ph type="ftr" sz="quarter" idx="11"/>
          </p:nvPr>
        </p:nvSpPr>
        <p:spPr/>
        <p:txBody>
          <a:bodyPr/>
          <a:lstStyle/>
          <a:p>
            <a:r>
              <a:rPr lang="en-US"/>
              <a:t>Ligorio - AI Agents</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04267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AB66C4E-28F5-944C-9150-D48FBC167EC6}" type="datetime1">
              <a:rPr lang="it-IT" smtClean="0"/>
              <a:t>30/09/26</a:t>
            </a:fld>
            <a:endParaRPr lang="en-US" dirty="0"/>
          </a:p>
        </p:txBody>
      </p:sp>
      <p:sp>
        <p:nvSpPr>
          <p:cNvPr id="6" name="Footer Placeholder 5"/>
          <p:cNvSpPr>
            <a:spLocks noGrp="1"/>
          </p:cNvSpPr>
          <p:nvPr>
            <p:ph type="ftr" sz="quarter" idx="11"/>
          </p:nvPr>
        </p:nvSpPr>
        <p:spPr/>
        <p:txBody>
          <a:bodyPr/>
          <a:lstStyle/>
          <a:p>
            <a:r>
              <a:rPr lang="en-US"/>
              <a:t>Ligorio - AI Agents</a:t>
            </a:r>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8" name="TextBox 7">
            <a:extLst>
              <a:ext uri="{FF2B5EF4-FFF2-40B4-BE49-F238E27FC236}">
                <a16:creationId xmlns:a16="http://schemas.microsoft.com/office/drawing/2014/main" id="{F6A911E0-6AB7-152E-FB5E-4BFB860413FA}"/>
              </a:ext>
            </a:extLst>
          </p:cNvPr>
          <p:cNvSpPr txBox="1"/>
          <p:nvPr userDrawn="1"/>
        </p:nvSpPr>
        <p:spPr>
          <a:xfrm>
            <a:off x="10795000" y="482600"/>
            <a:ext cx="184731" cy="369332"/>
          </a:xfrm>
          <a:prstGeom prst="rect">
            <a:avLst/>
          </a:prstGeom>
          <a:noFill/>
        </p:spPr>
        <p:txBody>
          <a:bodyPr wrap="none" rtlCol="0">
            <a:spAutoFit/>
          </a:bodyPr>
          <a:lstStyle/>
          <a:p>
            <a:endParaRPr lang="en-IT" dirty="0"/>
          </a:p>
        </p:txBody>
      </p:sp>
    </p:spTree>
    <p:extLst>
      <p:ext uri="{BB962C8B-B14F-4D97-AF65-F5344CB8AC3E}">
        <p14:creationId xmlns:p14="http://schemas.microsoft.com/office/powerpoint/2010/main" val="3129126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9BC2D06-27A9-864B-B43F-0FA9D48AC039}" type="datetime1">
              <a:rPr lang="it-IT" smtClean="0"/>
              <a:t>30/09/26</a:t>
            </a:fld>
            <a:endParaRPr lang="en-US" dirty="0"/>
          </a:p>
        </p:txBody>
      </p:sp>
      <p:sp>
        <p:nvSpPr>
          <p:cNvPr id="8" name="Footer Placeholder 7"/>
          <p:cNvSpPr>
            <a:spLocks noGrp="1"/>
          </p:cNvSpPr>
          <p:nvPr>
            <p:ph type="ftr" sz="quarter" idx="11"/>
          </p:nvPr>
        </p:nvSpPr>
        <p:spPr/>
        <p:txBody>
          <a:bodyPr/>
          <a:lstStyle/>
          <a:p>
            <a:r>
              <a:rPr lang="en-US"/>
              <a:t>Ligorio - AI Agents</a:t>
            </a:r>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39869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FFB507A-CF41-2B47-B8A7-77A2927199D4}" type="datetime1">
              <a:rPr lang="it-IT" smtClean="0"/>
              <a:t>30/09/26</a:t>
            </a:fld>
            <a:endParaRPr lang="en-US" dirty="0"/>
          </a:p>
        </p:txBody>
      </p:sp>
      <p:sp>
        <p:nvSpPr>
          <p:cNvPr id="4" name="Footer Placeholder 3"/>
          <p:cNvSpPr>
            <a:spLocks noGrp="1"/>
          </p:cNvSpPr>
          <p:nvPr>
            <p:ph type="ftr" sz="quarter" idx="11"/>
          </p:nvPr>
        </p:nvSpPr>
        <p:spPr/>
        <p:txBody>
          <a:bodyPr/>
          <a:lstStyle/>
          <a:p>
            <a:r>
              <a:rPr lang="en-US"/>
              <a:t>Ligorio - AI Agents</a:t>
            </a:r>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91608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5885E-230D-7645-92CF-01A4E6E9F53A}" type="datetime1">
              <a:rPr lang="it-IT" smtClean="0"/>
              <a:t>30/09/26</a:t>
            </a:fld>
            <a:endParaRPr lang="en-US" dirty="0"/>
          </a:p>
        </p:txBody>
      </p:sp>
      <p:sp>
        <p:nvSpPr>
          <p:cNvPr id="3" name="Footer Placeholder 2"/>
          <p:cNvSpPr>
            <a:spLocks noGrp="1"/>
          </p:cNvSpPr>
          <p:nvPr>
            <p:ph type="ftr" sz="quarter" idx="11"/>
          </p:nvPr>
        </p:nvSpPr>
        <p:spPr/>
        <p:txBody>
          <a:bodyPr/>
          <a:lstStyle/>
          <a:p>
            <a:r>
              <a:rPr lang="en-US"/>
              <a:t>Ligorio - AI Agents</a:t>
            </a:r>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89942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ED105CB-C2DB-054D-A192-10715BF13817}" type="datetime1">
              <a:rPr lang="it-IT" smtClean="0"/>
              <a:t>30/09/26</a:t>
            </a:fld>
            <a:endParaRPr lang="en-US" dirty="0"/>
          </a:p>
        </p:txBody>
      </p:sp>
      <p:sp>
        <p:nvSpPr>
          <p:cNvPr id="6" name="Footer Placeholder 5"/>
          <p:cNvSpPr>
            <a:spLocks noGrp="1"/>
          </p:cNvSpPr>
          <p:nvPr>
            <p:ph type="ftr" sz="quarter" idx="11"/>
          </p:nvPr>
        </p:nvSpPr>
        <p:spPr/>
        <p:txBody>
          <a:bodyPr/>
          <a:lstStyle/>
          <a:p>
            <a:r>
              <a:rPr lang="en-US"/>
              <a:t>Ligorio - AI Agents</a:t>
            </a:r>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900" name="Title Rule"/>
          <p:cNvSpPr>
            <a:spLocks noGrp="1"/>
          </p:cNvSpPr>
          <p:nvPr/>
        </p:nvSpPr>
        <p:spPr>
          <a:xfrm>
            <a:off x="438150" y="1190625"/>
            <a:ext cx="11068050" cy="19050"/>
          </a:xfrm>
          <a:prstGeom prst="rect">
            <a:avLst/>
          </a:prstGeom>
          <a:solidFill>
            <a:srgbClr val="D9D4C8"/>
          </a:solidFill>
          <a:ln>
            <a:noFill/>
          </a:ln>
        </p:spPr>
        <p:txBody>
          <a:bodyPr/>
          <a:lstStyle/>
          <a:p>
            <a:endParaRPr lang="en-US"/>
          </a:p>
        </p:txBody>
      </p:sp>
    </p:spTree>
    <p:extLst>
      <p:ext uri="{BB962C8B-B14F-4D97-AF65-F5344CB8AC3E}">
        <p14:creationId xmlns:p14="http://schemas.microsoft.com/office/powerpoint/2010/main" val="3884517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8FCB31B-CA31-3B41-9A6C-112F5BFE5126}" type="datetime1">
              <a:rPr lang="it-IT" smtClean="0"/>
              <a:t>30/09/26</a:t>
            </a:fld>
            <a:endParaRPr lang="en-US" dirty="0"/>
          </a:p>
        </p:txBody>
      </p:sp>
      <p:sp>
        <p:nvSpPr>
          <p:cNvPr id="6" name="Footer Placeholder 5"/>
          <p:cNvSpPr>
            <a:spLocks noGrp="1"/>
          </p:cNvSpPr>
          <p:nvPr>
            <p:ph type="ftr" sz="quarter" idx="11"/>
          </p:nvPr>
        </p:nvSpPr>
        <p:spPr/>
        <p:txBody>
          <a:bodyPr/>
          <a:lstStyle/>
          <a:p>
            <a:r>
              <a:rPr lang="en-US"/>
              <a:t>Ligorio - AI Agents</a:t>
            </a:r>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82491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718DBDE-0579-4A46-80CA-17A96E406DB8}" type="datetime1">
              <a:rPr lang="it-IT" smtClean="0"/>
              <a:t>30/09/26</a:t>
            </a:fld>
            <a:endParaRPr lang="en-US" dirty="0"/>
          </a:p>
        </p:txBody>
      </p:sp>
      <p:sp>
        <p:nvSpPr>
          <p:cNvPr id="5" name="Footer Placeholder 4"/>
          <p:cNvSpPr>
            <a:spLocks noGrp="1"/>
          </p:cNvSpPr>
          <p:nvPr>
            <p:ph type="ftr" sz="quarter" idx="11"/>
          </p:nvPr>
        </p:nvSpPr>
        <p:spPr/>
        <p:txBody>
          <a:bodyPr/>
          <a:lstStyle/>
          <a:p>
            <a:r>
              <a:rPr lang="en-US"/>
              <a:t>Ligorio - AI Agents</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61103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540B57E-9187-BB4C-887C-39007FB0299F}" type="datetime1">
              <a:rPr lang="it-IT" smtClean="0"/>
              <a:t>30/09/26</a:t>
            </a:fld>
            <a:endParaRPr lang="en-US" dirty="0"/>
          </a:p>
        </p:txBody>
      </p:sp>
      <p:sp>
        <p:nvSpPr>
          <p:cNvPr id="5" name="Footer Placeholder 4"/>
          <p:cNvSpPr>
            <a:spLocks noGrp="1"/>
          </p:cNvSpPr>
          <p:nvPr>
            <p:ph type="ftr" sz="quarter" idx="11"/>
          </p:nvPr>
        </p:nvSpPr>
        <p:spPr/>
        <p:txBody>
          <a:bodyPr/>
          <a:lstStyle/>
          <a:p>
            <a:r>
              <a:rPr lang="en-US"/>
              <a:t>Ligorio - AI Agents</a:t>
            </a:r>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18858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150" y="323850"/>
            <a:ext cx="10382250" cy="781050"/>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715285-4E49-7146-B64C-C4DF0F495A69}" type="datetime1">
              <a:rPr lang="it-IT" smtClean="0"/>
              <a:t>30/09/26</a:t>
            </a:fld>
            <a:endParaRPr lang="en-US" dirty="0"/>
          </a:p>
        </p:txBody>
      </p:sp>
      <p:sp>
        <p:nvSpPr>
          <p:cNvPr id="5" name="Footer Placeholder 4"/>
          <p:cNvSpPr>
            <a:spLocks noGrp="1"/>
          </p:cNvSpPr>
          <p:nvPr>
            <p:ph type="ftr" sz="quarter" idx="3"/>
          </p:nvPr>
        </p:nvSpPr>
        <p:spPr>
          <a:xfrm>
            <a:off x="400050" y="6657975"/>
            <a:ext cx="1809750" cy="1238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Ligorio - AI Agents</a:t>
            </a:r>
            <a:endParaRPr lang="en-US" dirty="0"/>
          </a:p>
        </p:txBody>
      </p:sp>
      <p:sp>
        <p:nvSpPr>
          <p:cNvPr id="6" name="Slide Number Placeholder 5"/>
          <p:cNvSpPr>
            <a:spLocks noGrp="1"/>
          </p:cNvSpPr>
          <p:nvPr>
            <p:ph type="sldNum" sz="quarter" idx="4"/>
          </p:nvPr>
        </p:nvSpPr>
        <p:spPr>
          <a:xfrm>
            <a:off x="11201400" y="266700"/>
            <a:ext cx="609600" cy="323850"/>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048489632"/>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hf hdr="0" dt="0"/>
  <p:txStyles>
    <p:titleStyle>
      <a:lvl1pPr algn="l" defTabSz="914400" rtl="0" eaLnBrk="1" latinLnBrk="0" hangingPunct="1">
        <a:lnSpc>
          <a:spcPct val="90000"/>
        </a:lnSpc>
        <a:spcBef>
          <a:spcPct val="0"/>
        </a:spcBef>
        <a:buNone/>
        <a:defRPr sz="42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Century Gothic"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entury Gothic"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Century Gothic"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Century Gothic"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Century Gothic"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Century Gothic"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Century Gothic"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Century Gothic"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Century Gothic"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hyperlink" Target="https://arxiv.org/abs/2510.09244" TargetMode="Externa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norahsakal.com/blog/mcp-vs-api-model-context-protocol-explained/"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8568B-6817-F7A1-0D49-ADF179F81CC6}"/>
              </a:ext>
            </a:extLst>
          </p:cNvPr>
          <p:cNvSpPr>
            <a:spLocks noGrp="1"/>
          </p:cNvSpPr>
          <p:nvPr>
            <p:ph type="ctrTitle"/>
          </p:nvPr>
        </p:nvSpPr>
        <p:spPr>
          <a:xfrm>
            <a:off x="1524003" y="1999615"/>
            <a:ext cx="9144000" cy="2764028"/>
          </a:xfrm>
        </p:spPr>
        <p:txBody>
          <a:bodyPr anchor="ctr">
            <a:normAutofit/>
          </a:bodyPr>
          <a:lstStyle>
            <a:lvl1pPr algn="l">
              <a:defRPr>
                <a:solidFill>
                  <a:srgbClr val="FFFFFF"/>
                </a:solidFill>
              </a:defRPr>
            </a:lvl1pPr>
          </a:lstStyle>
          <a:p>
            <a:r>
              <a:rPr lang="en-IT" sz="4000"/>
              <a:t>ReAct Agent?</a:t>
            </a:r>
          </a:p>
        </p:txBody>
      </p:sp>
      <p:sp>
        <p:nvSpPr>
          <p:cNvPr id="3" name="Subtitle 2">
            <a:extLst>
              <a:ext uri="{FF2B5EF4-FFF2-40B4-BE49-F238E27FC236}">
                <a16:creationId xmlns:a16="http://schemas.microsoft.com/office/drawing/2014/main" id="{C70AAD09-5AB2-380D-BB51-BE196E001BCA}"/>
              </a:ext>
            </a:extLst>
          </p:cNvPr>
          <p:cNvSpPr>
            <a:spLocks noGrp="1"/>
          </p:cNvSpPr>
          <p:nvPr>
            <p:ph type="subTitle" idx="1"/>
          </p:nvPr>
        </p:nvSpPr>
        <p:spPr>
          <a:xfrm>
            <a:off x="402336" y="6647688"/>
            <a:ext cx="2926080" cy="274320"/>
          </a:xfrm>
        </p:spPr>
        <p:txBody>
          <a:bodyPr anchor="ctr">
            <a:normAutofit fontScale="40000" lnSpcReduction="20000"/>
          </a:bodyPr>
          <a:lstStyle>
            <a:lvl1pPr algn="l">
              <a:defRPr cap="all">
                <a:solidFill>
                  <a:srgbClr val="FFFFFF"/>
                </a:solidFill>
              </a:defRPr>
            </a:lvl1pPr>
          </a:lstStyle>
          <a:p>
            <a:r>
              <a:rPr lang="en-IT" sz="1800" dirty="0"/>
              <a:t>CSCI 495.32 – AI Agents</a:t>
            </a:r>
          </a:p>
          <a:p>
            <a:r>
              <a:rPr lang="en-IT" sz="1800" dirty="0"/>
              <a:t>Lecture 6</a:t>
            </a:r>
          </a:p>
          <a:p>
            <a:r>
              <a:rPr lang="en-IT" sz="1800" dirty="0"/>
              <a:t>Professor Tiziana Ligorio</a:t>
            </a:r>
          </a:p>
        </p:txBody>
      </p:sp>
      <p:sp>
        <p:nvSpPr>
          <p:cNvPr id="5" name="Footer Placeholder 4">
            <a:extLst>
              <a:ext uri="{FF2B5EF4-FFF2-40B4-BE49-F238E27FC236}">
                <a16:creationId xmlns:a16="http://schemas.microsoft.com/office/drawing/2014/main" id="{A471C993-D23C-0EE0-9AE2-39EB4C014EA7}"/>
              </a:ext>
            </a:extLst>
          </p:cNvPr>
          <p:cNvSpPr>
            <a:spLocks noGrp="1"/>
          </p:cNvSpPr>
          <p:nvPr>
            <p:ph type="ftr" sz="quarter" idx="11"/>
          </p:nvPr>
        </p:nvSpPr>
        <p:spPr>
          <a:xfrm>
            <a:off x="402336" y="6647688"/>
            <a:ext cx="2926080" cy="274320"/>
          </a:xfrm>
        </p:spPr>
        <p:txBody>
          <a:bodyPr>
            <a:normAutofit fontScale="25000" lnSpcReduction="20000"/>
          </a:bodyPr>
          <a:lstStyle/>
          <a:p>
            <a:pPr>
              <a:spcAft>
                <a:spcPts val="600"/>
              </a:spcAft>
            </a:pPr>
            <a:r>
              <a:rPr lang="en-US" dirty="0">
                <a:solidFill>
                  <a:srgbClr val="8A939A"/>
                </a:solidFill>
              </a:rPr>
              <a:t>Ligorio - AI Agents</a:t>
            </a:r>
          </a:p>
        </p:txBody>
      </p:sp>
    </p:spTree>
    <p:extLst>
      <p:ext uri="{BB962C8B-B14F-4D97-AF65-F5344CB8AC3E}">
        <p14:creationId xmlns:p14="http://schemas.microsoft.com/office/powerpoint/2010/main" val="994229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3CB61-2444-C1FB-A1FA-8BFFA715B78B}"/>
              </a:ext>
            </a:extLst>
          </p:cNvPr>
          <p:cNvSpPr>
            <a:spLocks noGrp="1"/>
          </p:cNvSpPr>
          <p:nvPr>
            <p:ph type="title"/>
          </p:nvPr>
        </p:nvSpPr>
        <p:spPr>
          <a:xfrm>
            <a:off x="635883" y="266700"/>
            <a:ext cx="10168128" cy="1179576"/>
          </a:xfrm>
        </p:spPr>
        <p:txBody>
          <a:bodyPr>
            <a:normAutofit/>
          </a:bodyPr>
          <a:lstStyle/>
          <a:p>
            <a:r>
              <a:rPr lang="en-IT" sz="4000" dirty="0"/>
              <a:t>Announcements</a:t>
            </a:r>
          </a:p>
        </p:txBody>
      </p:sp>
      <p:sp>
        <p:nvSpPr>
          <p:cNvPr id="3" name="Content Placeholder 2">
            <a:extLst>
              <a:ext uri="{FF2B5EF4-FFF2-40B4-BE49-F238E27FC236}">
                <a16:creationId xmlns:a16="http://schemas.microsoft.com/office/drawing/2014/main" id="{828809DD-3CED-2DE4-907C-BF3DD9C4B3C6}"/>
              </a:ext>
            </a:extLst>
          </p:cNvPr>
          <p:cNvSpPr>
            <a:spLocks noGrp="1"/>
          </p:cNvSpPr>
          <p:nvPr>
            <p:ph idx="1"/>
          </p:nvPr>
        </p:nvSpPr>
        <p:spPr>
          <a:xfrm>
            <a:off x="635883" y="1588957"/>
            <a:ext cx="10647813" cy="4588006"/>
          </a:xfrm>
        </p:spPr>
        <p:txBody>
          <a:bodyPr>
            <a:normAutofit/>
          </a:bodyPr>
          <a:lstStyle/>
          <a:p>
            <a:endParaRPr lang="en-IT" sz="2000" dirty="0"/>
          </a:p>
        </p:txBody>
      </p:sp>
      <p:sp>
        <p:nvSpPr>
          <p:cNvPr id="4" name="Footer Placeholder 3">
            <a:extLst>
              <a:ext uri="{FF2B5EF4-FFF2-40B4-BE49-F238E27FC236}">
                <a16:creationId xmlns:a16="http://schemas.microsoft.com/office/drawing/2014/main" id="{00494F25-99CE-BA01-D09E-4F9AACA026CD}"/>
              </a:ext>
            </a:extLst>
          </p:cNvPr>
          <p:cNvSpPr>
            <a:spLocks noGrp="1"/>
          </p:cNvSpPr>
          <p:nvPr>
            <p:ph type="ftr" sz="quarter" idx="11"/>
          </p:nvPr>
        </p:nvSpPr>
        <p:spPr>
          <a:xfrm>
            <a:off x="402336" y="6647688"/>
            <a:ext cx="2926080" cy="274320"/>
          </a:xfrm>
        </p:spPr>
        <p:txBody>
          <a:bodyPr>
            <a:normAutofit fontScale="25000" lnSpcReduction="20000"/>
          </a:bodyPr>
          <a:lstStyle/>
          <a:p>
            <a:pPr>
              <a:spcAft>
                <a:spcPts val="600"/>
              </a:spcAft>
            </a:pPr>
            <a:r>
              <a:rPr lang="en-US">
                <a:solidFill>
                  <a:srgbClr val="8A939A"/>
                </a:solidFill>
              </a:rPr>
              <a:t>Ligorio - AI Agents</a:t>
            </a:r>
          </a:p>
        </p:txBody>
      </p:sp>
      <p:sp>
        <p:nvSpPr>
          <p:cNvPr id="5" name="Slide Number Placeholder 4">
            <a:extLst>
              <a:ext uri="{FF2B5EF4-FFF2-40B4-BE49-F238E27FC236}">
                <a16:creationId xmlns:a16="http://schemas.microsoft.com/office/drawing/2014/main" id="{78386101-7C3E-6C43-D7AC-C54F1A28B0C0}"/>
              </a:ext>
            </a:extLst>
          </p:cNvPr>
          <p:cNvSpPr>
            <a:spLocks noGrp="1"/>
          </p:cNvSpPr>
          <p:nvPr>
            <p:ph type="sldNum" sz="quarter" idx="12"/>
          </p:nvPr>
        </p:nvSpPr>
        <p:spPr>
          <a:xfrm>
            <a:off x="11201400" y="266700"/>
            <a:ext cx="609600" cy="323850"/>
          </a:xfrm>
        </p:spPr>
        <p:txBody>
          <a:bodyPr>
            <a:normAutofit/>
          </a:bodyPr>
          <a:lstStyle/>
          <a:p>
            <a:pPr>
              <a:spcAft>
                <a:spcPts val="600"/>
              </a:spcAft>
            </a:pPr>
            <a:fld id="{D57F1E4F-1CFF-5643-939E-02111984F565}" type="slidenum">
              <a:rPr lang="en-US">
                <a:solidFill>
                  <a:srgbClr val="8A939A"/>
                </a:solidFill>
              </a:rPr>
              <a:pPr>
                <a:spcAft>
                  <a:spcPts val="600"/>
                </a:spcAft>
              </a:pPr>
              <a:t>2</a:t>
            </a:fld>
            <a:endParaRPr lang="en-US">
              <a:solidFill>
                <a:srgbClr val="8A939A"/>
              </a:solidFill>
            </a:endParaRPr>
          </a:p>
        </p:txBody>
      </p:sp>
    </p:spTree>
    <p:extLst>
      <p:ext uri="{BB962C8B-B14F-4D97-AF65-F5344CB8AC3E}">
        <p14:creationId xmlns:p14="http://schemas.microsoft.com/office/powerpoint/2010/main" val="920872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C5574-5A8E-0E9C-54A3-F42974C4C5CF}"/>
              </a:ext>
            </a:extLst>
          </p:cNvPr>
          <p:cNvSpPr>
            <a:spLocks noGrp="1"/>
          </p:cNvSpPr>
          <p:nvPr>
            <p:ph type="title"/>
          </p:nvPr>
        </p:nvSpPr>
        <p:spPr>
          <a:xfrm>
            <a:off x="466500" y="365125"/>
            <a:ext cx="10515600" cy="1325563"/>
          </a:xfrm>
        </p:spPr>
        <p:txBody>
          <a:bodyPr/>
          <a:lstStyle/>
          <a:p>
            <a:r>
              <a:rPr sz="2800" b="0">
                <a:solidFill>
                  <a:srgbClr val="0B1F33"/>
                </a:solidFill>
                <a:latin typeface="Century Gothic"/>
              </a:rPr>
              <a:t>From fixed workflows to collaborating agents</a:t>
            </a:r>
          </a:p>
        </p:txBody>
      </p:sp>
      <p:graphicFrame>
        <p:nvGraphicFramePr>
          <p:cNvPr id="6" name="Content Placeholder 5">
            <a:extLst>
              <a:ext uri="{FF2B5EF4-FFF2-40B4-BE49-F238E27FC236}">
                <a16:creationId xmlns:a16="http://schemas.microsoft.com/office/drawing/2014/main" id="{8FF1F817-E4AF-FDDC-E3AF-45339794D401}"/>
              </a:ext>
            </a:extLst>
          </p:cNvPr>
          <p:cNvGraphicFramePr>
            <a:graphicFrameLocks noGrp="1"/>
          </p:cNvGraphicFramePr>
          <p:nvPr>
            <p:ph idx="1"/>
            <p:extLst>
              <p:ext uri="{D42A27DB-BD31-4B8C-83A1-F6EECF244321}">
                <p14:modId xmlns:p14="http://schemas.microsoft.com/office/powerpoint/2010/main" val="1105260104"/>
              </p:ext>
            </p:extLst>
          </p:nvPr>
        </p:nvGraphicFramePr>
        <p:xfrm>
          <a:off x="676962" y="1421586"/>
          <a:ext cx="10094677" cy="5171165"/>
        </p:xfrm>
        <a:graphic>
          <a:graphicData uri="http://schemas.openxmlformats.org/drawingml/2006/table">
            <a:tbl>
              <a:tblPr firstRow="1" bandRow="1"/>
              <a:tblGrid>
                <a:gridCol w="4671890">
                  <a:extLst>
                    <a:ext uri="{9D8B030D-6E8A-4147-A177-3AD203B41FA5}">
                      <a16:colId xmlns:a16="http://schemas.microsoft.com/office/drawing/2014/main" val="761154631"/>
                    </a:ext>
                  </a:extLst>
                </a:gridCol>
                <a:gridCol w="5422787">
                  <a:extLst>
                    <a:ext uri="{9D8B030D-6E8A-4147-A177-3AD203B41FA5}">
                      <a16:colId xmlns:a16="http://schemas.microsoft.com/office/drawing/2014/main" val="1896424037"/>
                    </a:ext>
                  </a:extLst>
                </a:gridCol>
              </a:tblGrid>
              <a:tr h="270013">
                <a:tc>
                  <a:txBody>
                    <a:bodyPr/>
                    <a:lstStyle/>
                    <a:p>
                      <a:pPr>
                        <a:buNone/>
                      </a:pPr>
                      <a:r>
                        <a:rPr lang="en-GB" sz="2000" b="1" dirty="0">
                          <a:solidFill>
                            <a:schemeClr val="tx1"/>
                          </a:solidFill>
                        </a:rPr>
                        <a:t>Class</a:t>
                      </a:r>
                    </a:p>
                  </a:txBody>
                  <a:tcPr marL="34965" marR="34965" marT="17482" marB="17482" anchor="ctr">
                    <a:lnL>
                      <a:noFill/>
                    </a:lnL>
                    <a:lnR>
                      <a:noFill/>
                    </a:lnR>
                    <a:lnT>
                      <a:noFill/>
                    </a:lnT>
                    <a:lnB>
                      <a:noFill/>
                    </a:lnB>
                    <a:noFill/>
                  </a:tcPr>
                </a:tc>
                <a:tc>
                  <a:txBody>
                    <a:bodyPr/>
                    <a:lstStyle/>
                    <a:p>
                      <a:pPr>
                        <a:buNone/>
                      </a:pPr>
                      <a:r>
                        <a:rPr lang="en-GB" sz="2000" b="1" dirty="0">
                          <a:solidFill>
                            <a:schemeClr val="tx1"/>
                          </a:solidFill>
                        </a:rPr>
                        <a:t>Core Idea</a:t>
                      </a:r>
                    </a:p>
                  </a:txBody>
                  <a:tcPr marL="34965" marR="34965" marT="17482" marB="17482" anchor="ctr">
                    <a:lnL>
                      <a:noFill/>
                    </a:lnL>
                    <a:lnR>
                      <a:noFill/>
                    </a:lnR>
                    <a:lnT>
                      <a:noFill/>
                    </a:lnT>
                    <a:lnB>
                      <a:noFill/>
                    </a:lnB>
                    <a:noFill/>
                  </a:tcPr>
                </a:tc>
                <a:extLst>
                  <a:ext uri="{0D108BD9-81ED-4DB2-BD59-A6C34878D82A}">
                    <a16:rowId xmlns:a16="http://schemas.microsoft.com/office/drawing/2014/main" val="4152198650"/>
                  </a:ext>
                </a:extLst>
              </a:tr>
              <a:tr h="850470">
                <a:tc>
                  <a:txBody>
                    <a:bodyPr/>
                    <a:lstStyle/>
                    <a:p>
                      <a:pPr>
                        <a:buNone/>
                      </a:pPr>
                      <a:r>
                        <a:rPr lang="en-GB" sz="1800" b="1" dirty="0">
                          <a:solidFill>
                            <a:schemeClr val="tx1"/>
                          </a:solidFill>
                        </a:rPr>
                        <a:t>Pipeline / Chain </a:t>
                      </a:r>
                      <a:br>
                        <a:rPr lang="en-GB" sz="1800" b="1" dirty="0">
                          <a:solidFill>
                            <a:schemeClr val="tx1"/>
                          </a:solidFill>
                        </a:rPr>
                      </a:br>
                      <a:r>
                        <a:rPr lang="en-GB" sz="1800" b="1" dirty="0">
                          <a:solidFill>
                            <a:schemeClr val="tx1"/>
                          </a:solidFill>
                        </a:rPr>
                        <a:t>(Deterministic AI Workflow)</a:t>
                      </a:r>
                      <a:endParaRPr lang="en-GB" sz="1800" dirty="0">
                        <a:solidFill>
                          <a:schemeClr val="tx1"/>
                        </a:solidFill>
                      </a:endParaRPr>
                    </a:p>
                  </a:txBody>
                  <a:tcPr marL="34965" marR="34965" marT="17482" marB="17482" anchor="ctr">
                    <a:lnL>
                      <a:noFill/>
                    </a:lnL>
                    <a:lnR>
                      <a:noFill/>
                    </a:lnR>
                    <a:lnT>
                      <a:noFill/>
                    </a:lnT>
                    <a:lnB>
                      <a:noFill/>
                    </a:lnB>
                    <a:noFill/>
                  </a:tcPr>
                </a:tc>
                <a:tc>
                  <a:txBody>
                    <a:bodyPr/>
                    <a:lstStyle/>
                    <a:p>
                      <a:pPr>
                        <a:buNone/>
                      </a:pPr>
                      <a:r>
                        <a:rPr lang="en-GB" sz="1600" dirty="0">
                          <a:solidFill>
                            <a:schemeClr val="tx1"/>
                          </a:solidFill>
                        </a:rPr>
                        <a:t>A fixed sequence of LLM calls or transformations. No decision-making — data flows linearly.</a:t>
                      </a:r>
                    </a:p>
                  </a:txBody>
                  <a:tcPr marL="34965" marR="34965" marT="17482" marB="17482" anchor="ctr">
                    <a:lnL>
                      <a:noFill/>
                    </a:lnL>
                    <a:lnR>
                      <a:noFill/>
                    </a:lnR>
                    <a:lnT>
                      <a:noFill/>
                    </a:lnT>
                    <a:lnB>
                      <a:noFill/>
                    </a:lnB>
                    <a:noFill/>
                  </a:tcPr>
                </a:tc>
                <a:extLst>
                  <a:ext uri="{0D108BD9-81ED-4DB2-BD59-A6C34878D82A}">
                    <a16:rowId xmlns:a16="http://schemas.microsoft.com/office/drawing/2014/main" val="3535320082"/>
                  </a:ext>
                </a:extLst>
              </a:tr>
              <a:tr h="1197994">
                <a:tc>
                  <a:txBody>
                    <a:bodyPr/>
                    <a:lstStyle/>
                    <a:p>
                      <a:pPr>
                        <a:buNone/>
                      </a:pPr>
                      <a:r>
                        <a:rPr lang="en-GB" sz="1800" b="1" dirty="0" err="1">
                          <a:solidFill>
                            <a:schemeClr val="tx1"/>
                          </a:solidFill>
                        </a:rPr>
                        <a:t>ReAct</a:t>
                      </a:r>
                      <a:r>
                        <a:rPr lang="en-GB" sz="1800" b="1" dirty="0">
                          <a:solidFill>
                            <a:schemeClr val="tx1"/>
                          </a:solidFill>
                        </a:rPr>
                        <a:t> (Reason + Act Loop)</a:t>
                      </a:r>
                      <a:endParaRPr lang="en-GB" sz="1800" dirty="0">
                        <a:solidFill>
                          <a:schemeClr val="tx1"/>
                        </a:solidFill>
                      </a:endParaRPr>
                    </a:p>
                  </a:txBody>
                  <a:tcPr marL="34965" marR="34965" marT="17482" marB="17482" anchor="ctr">
                    <a:lnL>
                      <a:noFill/>
                    </a:lnL>
                    <a:lnR>
                      <a:noFill/>
                    </a:lnR>
                    <a:lnT>
                      <a:noFill/>
                    </a:lnT>
                    <a:lnB>
                      <a:noFill/>
                    </a:lnB>
                    <a:noFill/>
                  </a:tcPr>
                </a:tc>
                <a:tc>
                  <a:txBody>
                    <a:bodyPr/>
                    <a:lstStyle/>
                    <a:p>
                      <a:pPr>
                        <a:buNone/>
                      </a:pPr>
                      <a:r>
                        <a:rPr lang="en-GB" sz="1600" dirty="0">
                          <a:solidFill>
                            <a:schemeClr val="tx1"/>
                          </a:solidFill>
                        </a:rPr>
                        <a:t>The model alternates between reasoning (“Thought”) and action (“Tool Use”), then observes results before continuing.</a:t>
                      </a:r>
                    </a:p>
                  </a:txBody>
                  <a:tcPr marL="34965" marR="34965" marT="17482" marB="17482" anchor="ctr">
                    <a:lnL>
                      <a:noFill/>
                    </a:lnL>
                    <a:lnR>
                      <a:noFill/>
                    </a:lnR>
                    <a:lnT>
                      <a:noFill/>
                    </a:lnT>
                    <a:lnB>
                      <a:noFill/>
                    </a:lnB>
                    <a:noFill/>
                  </a:tcPr>
                </a:tc>
                <a:extLst>
                  <a:ext uri="{0D108BD9-81ED-4DB2-BD59-A6C34878D82A}">
                    <a16:rowId xmlns:a16="http://schemas.microsoft.com/office/drawing/2014/main" val="2284521792"/>
                  </a:ext>
                </a:extLst>
              </a:tr>
              <a:tr h="850470">
                <a:tc>
                  <a:txBody>
                    <a:bodyPr/>
                    <a:lstStyle/>
                    <a:p>
                      <a:pPr>
                        <a:buNone/>
                      </a:pPr>
                      <a:r>
                        <a:rPr lang="en-GB" sz="1800" b="1">
                          <a:solidFill>
                            <a:schemeClr val="tx1"/>
                          </a:solidFill>
                        </a:rPr>
                        <a:t>Planner–Executor / Hierarchical Agents</a:t>
                      </a:r>
                      <a:endParaRPr lang="en-GB" sz="1800">
                        <a:solidFill>
                          <a:schemeClr val="tx1"/>
                        </a:solidFill>
                      </a:endParaRPr>
                    </a:p>
                  </a:txBody>
                  <a:tcPr marL="34965" marR="34965" marT="17482" marB="17482" anchor="ctr">
                    <a:lnL>
                      <a:noFill/>
                    </a:lnL>
                    <a:lnR>
                      <a:noFill/>
                    </a:lnR>
                    <a:lnT>
                      <a:noFill/>
                    </a:lnT>
                    <a:lnB>
                      <a:noFill/>
                    </a:lnB>
                    <a:noFill/>
                  </a:tcPr>
                </a:tc>
                <a:tc>
                  <a:txBody>
                    <a:bodyPr/>
                    <a:lstStyle/>
                    <a:p>
                      <a:pPr>
                        <a:buNone/>
                      </a:pPr>
                      <a:r>
                        <a:rPr lang="en-GB" sz="1600">
                          <a:solidFill>
                            <a:schemeClr val="tx1"/>
                          </a:solidFill>
                        </a:rPr>
                        <a:t>One LLM acts as a </a:t>
                      </a:r>
                      <a:r>
                        <a:rPr lang="en-GB" sz="1600" i="1">
                          <a:solidFill>
                            <a:schemeClr val="tx1"/>
                          </a:solidFill>
                        </a:rPr>
                        <a:t>planner</a:t>
                      </a:r>
                      <a:r>
                        <a:rPr lang="en-GB" sz="1600">
                          <a:solidFill>
                            <a:schemeClr val="tx1"/>
                          </a:solidFill>
                        </a:rPr>
                        <a:t> (decomposes a goal), while others </a:t>
                      </a:r>
                      <a:r>
                        <a:rPr lang="en-GB" sz="1600" i="1">
                          <a:solidFill>
                            <a:schemeClr val="tx1"/>
                          </a:solidFill>
                        </a:rPr>
                        <a:t>execute</a:t>
                      </a:r>
                      <a:r>
                        <a:rPr lang="en-GB" sz="1600">
                          <a:solidFill>
                            <a:schemeClr val="tx1"/>
                          </a:solidFill>
                        </a:rPr>
                        <a:t> subtasks and report back.</a:t>
                      </a:r>
                    </a:p>
                  </a:txBody>
                  <a:tcPr marL="34965" marR="34965" marT="17482" marB="17482" anchor="ctr">
                    <a:lnL>
                      <a:noFill/>
                    </a:lnL>
                    <a:lnR>
                      <a:noFill/>
                    </a:lnR>
                    <a:lnT>
                      <a:noFill/>
                    </a:lnT>
                    <a:lnB>
                      <a:noFill/>
                    </a:lnB>
                    <a:noFill/>
                  </a:tcPr>
                </a:tc>
                <a:extLst>
                  <a:ext uri="{0D108BD9-81ED-4DB2-BD59-A6C34878D82A}">
                    <a16:rowId xmlns:a16="http://schemas.microsoft.com/office/drawing/2014/main" val="1209846335"/>
                  </a:ext>
                </a:extLst>
              </a:tr>
              <a:tr h="1081997">
                <a:tc>
                  <a:txBody>
                    <a:bodyPr/>
                    <a:lstStyle/>
                    <a:p>
                      <a:pPr>
                        <a:buNone/>
                      </a:pPr>
                      <a:r>
                        <a:rPr lang="en-GB" sz="1800" b="1" dirty="0">
                          <a:solidFill>
                            <a:schemeClr val="tx1"/>
                          </a:solidFill>
                        </a:rPr>
                        <a:t>Collaborative Systems</a:t>
                      </a:r>
                      <a:endParaRPr lang="en-GB" sz="1800" dirty="0">
                        <a:solidFill>
                          <a:schemeClr val="tx1"/>
                        </a:solidFill>
                      </a:endParaRPr>
                    </a:p>
                  </a:txBody>
                  <a:tcPr marL="34965" marR="34965" marT="17482" marB="17482" anchor="ctr">
                    <a:lnL>
                      <a:noFill/>
                    </a:lnL>
                    <a:lnR>
                      <a:noFill/>
                    </a:lnR>
                    <a:lnT>
                      <a:noFill/>
                    </a:lnT>
                    <a:lnB>
                      <a:noFill/>
                    </a:lnB>
                    <a:noFill/>
                  </a:tcPr>
                </a:tc>
                <a:tc>
                  <a:txBody>
                    <a:bodyPr/>
                    <a:lstStyle/>
                    <a:p>
                      <a:pPr>
                        <a:buNone/>
                      </a:pPr>
                      <a:r>
                        <a:rPr lang="en-GB" sz="1600" dirty="0">
                          <a:solidFill>
                            <a:schemeClr val="tx1"/>
                          </a:solidFill>
                        </a:rPr>
                        <a:t>Multiple autonomous agents, each with its own role, memory, and tools, communicating or negotiating with each other.</a:t>
                      </a:r>
                    </a:p>
                  </a:txBody>
                  <a:tcPr marL="34965" marR="34965" marT="17482" marB="17482" anchor="ctr">
                    <a:lnL>
                      <a:noFill/>
                    </a:lnL>
                    <a:lnR>
                      <a:noFill/>
                    </a:lnR>
                    <a:lnT>
                      <a:noFill/>
                    </a:lnT>
                    <a:lnB>
                      <a:noFill/>
                    </a:lnB>
                    <a:noFill/>
                  </a:tcPr>
                </a:tc>
                <a:extLst>
                  <a:ext uri="{0D108BD9-81ED-4DB2-BD59-A6C34878D82A}">
                    <a16:rowId xmlns:a16="http://schemas.microsoft.com/office/drawing/2014/main" val="4152239970"/>
                  </a:ext>
                </a:extLst>
              </a:tr>
              <a:tr h="850470">
                <a:tc>
                  <a:txBody>
                    <a:bodyPr/>
                    <a:lstStyle/>
                    <a:p>
                      <a:pPr>
                        <a:buNone/>
                      </a:pPr>
                      <a:r>
                        <a:rPr lang="en-GB" sz="1800" b="1">
                          <a:solidFill>
                            <a:schemeClr val="tx1"/>
                          </a:solidFill>
                        </a:rPr>
                        <a:t>Environment-Driven or Embodied Agents</a:t>
                      </a:r>
                      <a:endParaRPr lang="en-GB" sz="1800">
                        <a:solidFill>
                          <a:schemeClr val="tx1"/>
                        </a:solidFill>
                      </a:endParaRPr>
                    </a:p>
                  </a:txBody>
                  <a:tcPr marL="34965" marR="34965" marT="17482" marB="17482" anchor="ctr">
                    <a:lnL>
                      <a:noFill/>
                    </a:lnL>
                    <a:lnR>
                      <a:noFill/>
                    </a:lnR>
                    <a:lnT>
                      <a:noFill/>
                    </a:lnT>
                    <a:lnB>
                      <a:noFill/>
                    </a:lnB>
                    <a:noFill/>
                  </a:tcPr>
                </a:tc>
                <a:tc>
                  <a:txBody>
                    <a:bodyPr/>
                    <a:lstStyle/>
                    <a:p>
                      <a:pPr>
                        <a:buNone/>
                      </a:pPr>
                      <a:r>
                        <a:rPr lang="en-GB" sz="1600" dirty="0">
                          <a:solidFill>
                            <a:schemeClr val="tx1"/>
                          </a:solidFill>
                        </a:rPr>
                        <a:t>Agents that act in a simulated or real environment, using sensors and continuous feedback.</a:t>
                      </a:r>
                    </a:p>
                  </a:txBody>
                  <a:tcPr marL="34965" marR="34965" marT="17482" marB="17482" anchor="ctr">
                    <a:lnL>
                      <a:noFill/>
                    </a:lnL>
                    <a:lnR>
                      <a:noFill/>
                    </a:lnR>
                    <a:lnT>
                      <a:noFill/>
                    </a:lnT>
                    <a:lnB>
                      <a:noFill/>
                    </a:lnB>
                    <a:noFill/>
                  </a:tcPr>
                </a:tc>
                <a:extLst>
                  <a:ext uri="{0D108BD9-81ED-4DB2-BD59-A6C34878D82A}">
                    <a16:rowId xmlns:a16="http://schemas.microsoft.com/office/drawing/2014/main" val="1476829425"/>
                  </a:ext>
                </a:extLst>
              </a:tr>
            </a:tbl>
          </a:graphicData>
        </a:graphic>
      </p:graphicFrame>
      <p:sp>
        <p:nvSpPr>
          <p:cNvPr id="5" name="Slide Number Placeholder 4">
            <a:extLst>
              <a:ext uri="{FF2B5EF4-FFF2-40B4-BE49-F238E27FC236}">
                <a16:creationId xmlns:a16="http://schemas.microsoft.com/office/drawing/2014/main" id="{B79F2F1B-DE5A-7BCD-E5A5-7C12276E575E}"/>
              </a:ext>
            </a:extLst>
          </p:cNvPr>
          <p:cNvSpPr>
            <a:spLocks noGrp="1"/>
          </p:cNvSpPr>
          <p:nvPr>
            <p:ph type="sldNum" sz="quarter" idx="12"/>
          </p:nvPr>
        </p:nvSpPr>
        <p:spPr/>
        <p:txBody>
          <a:bodyPr/>
          <a:lstStyle/>
          <a:p>
            <a:fld id="{D57F1E4F-1CFF-5643-939E-02111984F565}" type="slidenum">
              <a:rPr lang="en-US" smtClean="0">
                <a:solidFill>
                  <a:srgbClr val="8A939A"/>
                </a:solidFill>
              </a:rPr>
              <a:t>3</a:t>
            </a:fld>
            <a:endParaRPr lang="en-US">
              <a:solidFill>
                <a:srgbClr val="8A939A"/>
              </a:solidFill>
            </a:endParaRPr>
          </a:p>
        </p:txBody>
      </p:sp>
    </p:spTree>
    <p:extLst>
      <p:ext uri="{BB962C8B-B14F-4D97-AF65-F5344CB8AC3E}">
        <p14:creationId xmlns:p14="http://schemas.microsoft.com/office/powerpoint/2010/main" val="245138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0" name="Teal Bar"/>
          <p:cNvSpPr/>
          <p:nvPr/>
        </p:nvSpPr>
        <p:spPr>
          <a:xfrm>
            <a:off x="914400" y="2438400"/>
            <a:ext cx="1280160" cy="109728"/>
          </a:xfrm>
          <a:prstGeom prst="roundRect">
            <a:avLst/>
          </a:prstGeom>
          <a:solidFill>
            <a:srgbClr val="58C1BA"/>
          </a:solidFill>
          <a:ln>
            <a:noFill/>
          </a:ln>
        </p:spPr>
        <p:txBody>
          <a:bodyPr/>
          <a:lstStyle/>
          <a:p>
            <a:endParaRPr lang="en-US"/>
          </a:p>
        </p:txBody>
      </p:sp>
      <p:sp>
        <p:nvSpPr>
          <p:cNvPr id="11" name="Section Title"/>
          <p:cNvSpPr txBox="1"/>
          <p:nvPr/>
        </p:nvSpPr>
        <p:spPr>
          <a:xfrm>
            <a:off x="914400" y="2712720"/>
            <a:ext cx="10332720" cy="1828800"/>
          </a:xfrm>
          <a:prstGeom prst="rect">
            <a:avLst/>
          </a:prstGeom>
          <a:noFill/>
        </p:spPr>
        <p:txBody>
          <a:bodyPr wrap="square" rtlCol="0">
            <a:normAutofit/>
          </a:bodyPr>
          <a:lstStyle/>
          <a:p>
            <a:pPr algn="l"/>
            <a:r>
              <a:rPr lang="en-US" sz="3600" dirty="0">
                <a:solidFill>
                  <a:srgbClr val="FFFFFF"/>
                </a:solidFill>
              </a:rPr>
              <a:t>How do we move towards the right end of the Agentic spectrum? What’s missing?</a:t>
            </a:r>
          </a:p>
        </p:txBody>
      </p:sp>
      <p:sp>
        <p:nvSpPr>
          <p:cNvPr id="13" name="Footer"/>
          <p:cNvSpPr txBox="1"/>
          <p:nvPr/>
        </p:nvSpPr>
        <p:spPr>
          <a:xfrm>
            <a:off x="402336" y="6647688"/>
            <a:ext cx="2926080" cy="274320"/>
          </a:xfrm>
          <a:prstGeom prst="rect">
            <a:avLst/>
          </a:prstGeom>
          <a:noFill/>
        </p:spPr>
        <p:txBody>
          <a:bodyPr/>
          <a:lstStyle/>
          <a:p>
            <a:pPr algn="l"/>
            <a:r>
              <a:rPr lang="en-US" sz="900" dirty="0">
                <a:solidFill>
                  <a:srgbClr val="8A939A"/>
                </a:solidFill>
              </a:rPr>
              <a:t>Ligorio - AI Agents</a:t>
            </a:r>
          </a:p>
        </p:txBody>
      </p:sp>
      <p:sp>
        <p:nvSpPr>
          <p:cNvPr id="14" name="Slide Number"/>
          <p:cNvSpPr txBox="1"/>
          <p:nvPr/>
        </p:nvSpPr>
        <p:spPr>
          <a:xfrm>
            <a:off x="11201400" y="265176"/>
            <a:ext cx="612648" cy="320040"/>
          </a:xfrm>
          <a:prstGeom prst="rect">
            <a:avLst/>
          </a:prstGeom>
          <a:noFill/>
        </p:spPr>
        <p:txBody>
          <a:bodyPr/>
          <a:lstStyle/>
          <a:p>
            <a:pPr algn="ctr"/>
            <a:fld id="{5F1B0A5E-3A4C-4E77-9C21-2E0B7A8F0007}" type="slidenum">
              <a:rPr lang="en-US" sz="1350">
                <a:solidFill>
                  <a:srgbClr val="8A939A"/>
                </a:solidFill>
              </a:rPr>
              <a:t>4</a:t>
            </a:fld>
            <a:endParaRPr lang="en-US" sz="13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5D2102D-825F-3C87-8B22-A19A725D5769}"/>
              </a:ext>
            </a:extLst>
          </p:cNvPr>
          <p:cNvSpPr>
            <a:spLocks noGrp="1"/>
          </p:cNvSpPr>
          <p:nvPr>
            <p:ph type="ftr" sz="quarter" idx="11"/>
          </p:nvPr>
        </p:nvSpPr>
        <p:spPr>
          <a:xfrm>
            <a:off x="402336" y="6647688"/>
            <a:ext cx="2926080" cy="274320"/>
          </a:xfrm>
        </p:spPr>
        <p:txBody>
          <a:bodyPr/>
          <a:lstStyle/>
          <a:p>
            <a:r>
              <a:rPr lang="en-US"/>
              <a:t>Ligorio - AI Agents</a:t>
            </a:r>
            <a:endParaRPr lang="en-US" dirty="0"/>
          </a:p>
        </p:txBody>
      </p:sp>
      <p:sp>
        <p:nvSpPr>
          <p:cNvPr id="3" name="Slide Number Placeholder 2">
            <a:extLst>
              <a:ext uri="{FF2B5EF4-FFF2-40B4-BE49-F238E27FC236}">
                <a16:creationId xmlns:a16="http://schemas.microsoft.com/office/drawing/2014/main" id="{BE655D6C-4643-2C39-8BA6-D9C63637C1A6}"/>
              </a:ext>
            </a:extLst>
          </p:cNvPr>
          <p:cNvSpPr>
            <a:spLocks noGrp="1"/>
          </p:cNvSpPr>
          <p:nvPr>
            <p:ph type="sldNum" sz="quarter" idx="12"/>
          </p:nvPr>
        </p:nvSpPr>
        <p:spPr/>
        <p:txBody>
          <a:bodyPr/>
          <a:lstStyle/>
          <a:p>
            <a:fld id="{D57F1E4F-1CFF-5643-939E-02111984F565}" type="slidenum">
              <a:rPr lang="en-US" smtClean="0"/>
              <a:t>5</a:t>
            </a:fld>
            <a:endParaRPr lang="en-US" dirty="0"/>
          </a:p>
        </p:txBody>
      </p:sp>
      <p:pic>
        <p:nvPicPr>
          <p:cNvPr id="4" name="Picture 3" descr="A diagram for planning">
            <a:extLst>
              <a:ext uri="{FF2B5EF4-FFF2-40B4-BE49-F238E27FC236}">
                <a16:creationId xmlns:a16="http://schemas.microsoft.com/office/drawing/2014/main" id="{9D411ECC-C0DD-D219-5019-229A119AC264}"/>
              </a:ext>
            </a:extLst>
          </p:cNvPr>
          <p:cNvPicPr>
            <a:picLocks noChangeAspect="1"/>
          </p:cNvPicPr>
          <p:nvPr/>
        </p:nvPicPr>
        <p:blipFill>
          <a:blip r:embed="rId3"/>
          <a:stretch>
            <a:fillRect/>
          </a:stretch>
        </p:blipFill>
        <p:spPr>
          <a:xfrm>
            <a:off x="609447" y="2900859"/>
            <a:ext cx="3474720" cy="1924961"/>
          </a:xfrm>
          <a:prstGeom prst="rect">
            <a:avLst/>
          </a:prstGeom>
        </p:spPr>
      </p:pic>
      <p:pic>
        <p:nvPicPr>
          <p:cNvPr id="5" name="Picture 4" descr="A diagram for tools">
            <a:extLst>
              <a:ext uri="{FF2B5EF4-FFF2-40B4-BE49-F238E27FC236}">
                <a16:creationId xmlns:a16="http://schemas.microsoft.com/office/drawing/2014/main" id="{7DDD324F-FFED-3988-5718-1AEB2C6BB6BC}"/>
              </a:ext>
            </a:extLst>
          </p:cNvPr>
          <p:cNvPicPr>
            <a:picLocks noChangeAspect="1"/>
          </p:cNvPicPr>
          <p:nvPr/>
        </p:nvPicPr>
        <p:blipFill>
          <a:blip r:embed="rId4"/>
          <a:stretch>
            <a:fillRect/>
          </a:stretch>
        </p:blipFill>
        <p:spPr>
          <a:xfrm>
            <a:off x="4358487" y="2890588"/>
            <a:ext cx="3474720" cy="1945503"/>
          </a:xfrm>
          <a:prstGeom prst="rect">
            <a:avLst/>
          </a:prstGeom>
        </p:spPr>
      </p:pic>
      <p:pic>
        <p:nvPicPr>
          <p:cNvPr id="6" name="Picture 5" descr="A diagram for memory">
            <a:extLst>
              <a:ext uri="{FF2B5EF4-FFF2-40B4-BE49-F238E27FC236}">
                <a16:creationId xmlns:a16="http://schemas.microsoft.com/office/drawing/2014/main" id="{A7125B1B-FF67-8B5F-8FDF-81ACE4690CFE}"/>
              </a:ext>
            </a:extLst>
          </p:cNvPr>
          <p:cNvPicPr>
            <a:picLocks noChangeAspect="1"/>
          </p:cNvPicPr>
          <p:nvPr/>
        </p:nvPicPr>
        <p:blipFill>
          <a:blip r:embed="rId5"/>
          <a:stretch>
            <a:fillRect/>
          </a:stretch>
        </p:blipFill>
        <p:spPr>
          <a:xfrm>
            <a:off x="8107527" y="2955928"/>
            <a:ext cx="3474720" cy="1814822"/>
          </a:xfrm>
          <a:prstGeom prst="rect">
            <a:avLst/>
          </a:prstGeom>
        </p:spPr>
      </p:pic>
      <p:sp>
        <p:nvSpPr>
          <p:cNvPr id="7" name="TextBox 6"/>
          <p:cNvSpPr txBox="1"/>
          <p:nvPr/>
        </p:nvSpPr>
        <p:spPr>
          <a:xfrm>
            <a:off x="502920" y="274320"/>
            <a:ext cx="11155680" cy="777240"/>
          </a:xfrm>
          <a:prstGeom prst="rect">
            <a:avLst/>
          </a:prstGeom>
          <a:noFill/>
        </p:spPr>
        <p:txBody>
          <a:bodyPr wrap="square" lIns="38100" rIns="38100" anchor="t">
            <a:spAutoFit/>
          </a:bodyPr>
          <a:lstStyle/>
          <a:p>
            <a:pPr algn="l"/>
            <a:r>
              <a:rPr sz="2800" b="0" i="0">
                <a:solidFill>
                  <a:srgbClr val="0B1F33"/>
                </a:solidFill>
                <a:latin typeface="Century Gothic"/>
              </a:rPr>
              <a:t>An agent adds reasoning, tools, and memory</a:t>
            </a:r>
          </a:p>
        </p:txBody>
      </p:sp>
    </p:spTree>
    <p:extLst>
      <p:ext uri="{BB962C8B-B14F-4D97-AF65-F5344CB8AC3E}">
        <p14:creationId xmlns:p14="http://schemas.microsoft.com/office/powerpoint/2010/main" val="230594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F801559-DB31-B681-D3AA-1569B6F01301}"/>
              </a:ext>
            </a:extLst>
          </p:cNvPr>
          <p:cNvSpPr>
            <a:spLocks noGrp="1"/>
          </p:cNvSpPr>
          <p:nvPr>
            <p:ph type="ftr" sz="quarter" idx="11"/>
          </p:nvPr>
        </p:nvSpPr>
        <p:spPr>
          <a:xfrm>
            <a:off x="402336" y="6647688"/>
            <a:ext cx="2926080" cy="274320"/>
          </a:xfrm>
        </p:spPr>
        <p:txBody>
          <a:bodyPr/>
          <a:lstStyle/>
          <a:p>
            <a:r>
              <a:rPr lang="en-US" dirty="0"/>
              <a:t>Ligorio - AI Agents</a:t>
            </a:r>
          </a:p>
        </p:txBody>
      </p:sp>
      <p:sp>
        <p:nvSpPr>
          <p:cNvPr id="6" name="Slide Number Placeholder 5">
            <a:extLst>
              <a:ext uri="{FF2B5EF4-FFF2-40B4-BE49-F238E27FC236}">
                <a16:creationId xmlns:a16="http://schemas.microsoft.com/office/drawing/2014/main" id="{EE97B8AA-1BD1-D451-1844-4957B471CDFE}"/>
              </a:ext>
            </a:extLst>
          </p:cNvPr>
          <p:cNvSpPr>
            <a:spLocks noGrp="1"/>
          </p:cNvSpPr>
          <p:nvPr>
            <p:ph type="sldNum" sz="quarter" idx="12"/>
          </p:nvPr>
        </p:nvSpPr>
        <p:spPr/>
        <p:txBody>
          <a:bodyPr/>
          <a:lstStyle/>
          <a:p>
            <a:fld id="{D57F1E4F-1CFF-5643-939E-02111984F565}" type="slidenum">
              <a:rPr lang="en-US" smtClean="0"/>
              <a:t>6</a:t>
            </a:fld>
            <a:endParaRPr lang="en-US" dirty="0"/>
          </a:p>
        </p:txBody>
      </p:sp>
      <p:pic>
        <p:nvPicPr>
          <p:cNvPr id="7" name="Picture 6" descr="A diagram for planning">
            <a:extLst>
              <a:ext uri="{FF2B5EF4-FFF2-40B4-BE49-F238E27FC236}">
                <a16:creationId xmlns:a16="http://schemas.microsoft.com/office/drawing/2014/main" id="{1E80A3EA-6BCD-A6AA-111A-529B79EFB5FF}"/>
              </a:ext>
            </a:extLst>
          </p:cNvPr>
          <p:cNvPicPr>
            <a:picLocks noChangeAspect="1"/>
          </p:cNvPicPr>
          <p:nvPr/>
        </p:nvPicPr>
        <p:blipFill>
          <a:blip r:embed="rId3"/>
          <a:stretch>
            <a:fillRect/>
          </a:stretch>
        </p:blipFill>
        <p:spPr>
          <a:xfrm>
            <a:off x="609447" y="2381625"/>
            <a:ext cx="5349240" cy="2963428"/>
          </a:xfrm>
          <a:prstGeom prst="rect">
            <a:avLst/>
          </a:prstGeom>
        </p:spPr>
      </p:pic>
      <p:sp>
        <p:nvSpPr>
          <p:cNvPr id="8" name="Content Placeholder 2">
            <a:extLst>
              <a:ext uri="{FF2B5EF4-FFF2-40B4-BE49-F238E27FC236}">
                <a16:creationId xmlns:a16="http://schemas.microsoft.com/office/drawing/2014/main" id="{DD911DD3-DF18-B174-405F-648C4CFC13B6}"/>
              </a:ext>
            </a:extLst>
          </p:cNvPr>
          <p:cNvSpPr txBox="1">
            <a:spLocks/>
          </p:cNvSpPr>
          <p:nvPr/>
        </p:nvSpPr>
        <p:spPr>
          <a:xfrm>
            <a:off x="5919935" y="4344320"/>
            <a:ext cx="4438845" cy="2639307"/>
          </a:xfrm>
          <a:prstGeom prst="rect">
            <a:avLst/>
          </a:prstGeom>
        </p:spPr>
        <p:txBody>
          <a:bodyPr vert="horz" lIns="91440" tIns="45720" rIns="91440" bIns="45720" rtlCol="0" anchor="ct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accent4">
                    <a:lumMod val="50000"/>
                  </a:schemeClr>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accent4">
                    <a:lumMod val="50000"/>
                  </a:schemeClr>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accent4">
                    <a:lumMod val="50000"/>
                  </a:schemeClr>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accent4">
                    <a:lumMod val="50000"/>
                  </a:schemeClr>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accent4">
                    <a:lumMod val="50000"/>
                  </a:schemeClr>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endParaRPr lang="en-US" dirty="0">
              <a:solidFill>
                <a:schemeClr val="bg2"/>
              </a:solidFill>
            </a:endParaRPr>
          </a:p>
        </p:txBody>
      </p:sp>
      <p:pic>
        <p:nvPicPr>
          <p:cNvPr id="11" name="Picture 10" descr="A diagram of 3 task decomposition approaches">
            <a:extLst>
              <a:ext uri="{FF2B5EF4-FFF2-40B4-BE49-F238E27FC236}">
                <a16:creationId xmlns:a16="http://schemas.microsoft.com/office/drawing/2014/main" id="{EDE10F65-8036-AAAD-7A95-C244201DD642}"/>
              </a:ext>
            </a:extLst>
          </p:cNvPr>
          <p:cNvPicPr>
            <a:picLocks noChangeAspect="1"/>
          </p:cNvPicPr>
          <p:nvPr/>
        </p:nvPicPr>
        <p:blipFill>
          <a:blip r:embed="rId4"/>
          <a:stretch>
            <a:fillRect/>
          </a:stretch>
        </p:blipFill>
        <p:spPr>
          <a:xfrm>
            <a:off x="6233007" y="2405839"/>
            <a:ext cx="5349240" cy="2915001"/>
          </a:xfrm>
          <a:prstGeom prst="rect">
            <a:avLst/>
          </a:prstGeom>
        </p:spPr>
      </p:pic>
      <p:sp>
        <p:nvSpPr>
          <p:cNvPr id="12" name="TextBox 11">
            <a:extLst>
              <a:ext uri="{FF2B5EF4-FFF2-40B4-BE49-F238E27FC236}">
                <a16:creationId xmlns:a16="http://schemas.microsoft.com/office/drawing/2014/main" id="{C352AB73-AA9D-7AC8-B74F-542942AECB7A}"/>
              </a:ext>
            </a:extLst>
          </p:cNvPr>
          <p:cNvSpPr txBox="1"/>
          <p:nvPr/>
        </p:nvSpPr>
        <p:spPr>
          <a:xfrm>
            <a:off x="8220046" y="6562271"/>
            <a:ext cx="3633918" cy="276999"/>
          </a:xfrm>
          <a:prstGeom prst="rect">
            <a:avLst/>
          </a:prstGeom>
          <a:noFill/>
        </p:spPr>
        <p:txBody>
          <a:bodyPr wrap="square" rtlCol="0">
            <a:spAutoFit/>
          </a:bodyPr>
          <a:lstStyle/>
          <a:p>
            <a:r>
              <a:rPr lang="en-IT" sz="1200" dirty="0">
                <a:solidFill>
                  <a:schemeClr val="bg2"/>
                </a:solidFill>
                <a:hlinkClick r:id="rId5">
                  <a:extLst>
                    <a:ext uri="{A12FA001-AC4F-418D-AE19-62706E023703}">
                      <ahyp:hlinkClr xmlns:ahyp="http://schemas.microsoft.com/office/drawing/2018/hyperlinkcolor" val="tx"/>
                    </a:ext>
                  </a:extLst>
                </a:hlinkClick>
              </a:rPr>
              <a:t>Image credits: </a:t>
            </a:r>
            <a:r>
              <a:rPr lang="en-GB" sz="1200" dirty="0">
                <a:solidFill>
                  <a:schemeClr val="bg2"/>
                </a:solidFill>
                <a:hlinkClick r:id="rId5">
                  <a:extLst>
                    <a:ext uri="{A12FA001-AC4F-418D-AE19-62706E023703}">
                      <ahyp:hlinkClr xmlns:ahyp="http://schemas.microsoft.com/office/drawing/2018/hyperlinkcolor" val="tx"/>
                    </a:ext>
                  </a:extLst>
                </a:hlinkClick>
              </a:rPr>
              <a:t>de Lamo Castrillo et al., 2025"</a:t>
            </a:r>
            <a:r>
              <a:rPr lang="en-IT" sz="1200" dirty="0">
                <a:solidFill>
                  <a:schemeClr val="bg2"/>
                </a:solidFill>
              </a:rPr>
              <a:t>  </a:t>
            </a:r>
          </a:p>
        </p:txBody>
      </p:sp>
      <p:sp>
        <p:nvSpPr>
          <p:cNvPr id="59" name="TextBox 58"/>
          <p:cNvSpPr txBox="1"/>
          <p:nvPr/>
        </p:nvSpPr>
        <p:spPr>
          <a:xfrm>
            <a:off x="502920" y="274320"/>
            <a:ext cx="11155680" cy="777240"/>
          </a:xfrm>
          <a:prstGeom prst="rect">
            <a:avLst/>
          </a:prstGeom>
          <a:noFill/>
        </p:spPr>
        <p:txBody>
          <a:bodyPr wrap="square" lIns="38100" rIns="38100" anchor="t">
            <a:spAutoFit/>
          </a:bodyPr>
          <a:lstStyle/>
          <a:p>
            <a:pPr algn="l"/>
            <a:r>
              <a:rPr sz="2800" b="0" i="0">
                <a:solidFill>
                  <a:srgbClr val="0B1F33"/>
                </a:solidFill>
                <a:latin typeface="Century Gothic"/>
              </a:rPr>
              <a:t>Reasoning: plan, reflect, and adjust</a:t>
            </a:r>
          </a:p>
        </p:txBody>
      </p:sp>
    </p:spTree>
    <p:extLst>
      <p:ext uri="{BB962C8B-B14F-4D97-AF65-F5344CB8AC3E}">
        <p14:creationId xmlns:p14="http://schemas.microsoft.com/office/powerpoint/2010/main" val="3455784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62C9840-0E14-6AEE-BA6B-0D7085D24261}"/>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endParaRPr lang="en-US" dirty="0">
              <a:solidFill>
                <a:srgbClr val="8A939A"/>
              </a:solidFill>
            </a:endParaRPr>
          </a:p>
        </p:txBody>
      </p:sp>
      <p:sp>
        <p:nvSpPr>
          <p:cNvPr id="6" name="Slide Number Placeholder 5">
            <a:extLst>
              <a:ext uri="{FF2B5EF4-FFF2-40B4-BE49-F238E27FC236}">
                <a16:creationId xmlns:a16="http://schemas.microsoft.com/office/drawing/2014/main" id="{D84DF988-10C5-3145-5FFB-1B4BE43E270A}"/>
              </a:ext>
            </a:extLst>
          </p:cNvPr>
          <p:cNvSpPr>
            <a:spLocks noGrp="1"/>
          </p:cNvSpPr>
          <p:nvPr>
            <p:ph type="sldNum" sz="quarter" idx="12"/>
          </p:nvPr>
        </p:nvSpPr>
        <p:spPr/>
        <p:txBody>
          <a:bodyPr/>
          <a:lstStyle/>
          <a:p>
            <a:fld id="{D57F1E4F-1CFF-5643-939E-02111984F565}" type="slidenum">
              <a:rPr lang="en-US" smtClean="0">
                <a:solidFill>
                  <a:srgbClr val="8A939A"/>
                </a:solidFill>
              </a:rPr>
              <a:t>7</a:t>
            </a:fld>
            <a:endParaRPr lang="en-US" dirty="0">
              <a:solidFill>
                <a:srgbClr val="8A939A"/>
              </a:solidFill>
            </a:endParaRPr>
          </a:p>
        </p:txBody>
      </p:sp>
      <p:pic>
        <p:nvPicPr>
          <p:cNvPr id="7" name="Picture 6" descr="A diagram for tools">
            <a:extLst>
              <a:ext uri="{FF2B5EF4-FFF2-40B4-BE49-F238E27FC236}">
                <a16:creationId xmlns:a16="http://schemas.microsoft.com/office/drawing/2014/main" id="{A8E70594-FD6B-E2ED-8CB2-39800496D402}"/>
              </a:ext>
            </a:extLst>
          </p:cNvPr>
          <p:cNvPicPr>
            <a:picLocks noChangeAspect="1"/>
          </p:cNvPicPr>
          <p:nvPr/>
        </p:nvPicPr>
        <p:blipFill>
          <a:blip r:embed="rId3"/>
          <a:stretch>
            <a:fillRect/>
          </a:stretch>
        </p:blipFill>
        <p:spPr>
          <a:xfrm>
            <a:off x="1727192" y="1417320"/>
            <a:ext cx="8737310" cy="4892040"/>
          </a:xfrm>
          <a:prstGeom prst="rect">
            <a:avLst/>
          </a:prstGeom>
        </p:spPr>
      </p:pic>
      <p:sp>
        <p:nvSpPr>
          <p:cNvPr id="23" name="TextBox 22"/>
          <p:cNvSpPr txBox="1"/>
          <p:nvPr/>
        </p:nvSpPr>
        <p:spPr>
          <a:xfrm>
            <a:off x="502920" y="274320"/>
            <a:ext cx="11155680" cy="777240"/>
          </a:xfrm>
          <a:prstGeom prst="rect">
            <a:avLst/>
          </a:prstGeom>
          <a:noFill/>
        </p:spPr>
        <p:txBody>
          <a:bodyPr wrap="square" lIns="38100" rIns="38100" anchor="t">
            <a:spAutoFit/>
          </a:bodyPr>
          <a:lstStyle/>
          <a:p>
            <a:pPr algn="l"/>
            <a:r>
              <a:rPr sz="2800" b="0" i="0">
                <a:solidFill>
                  <a:srgbClr val="0B1F33"/>
                </a:solidFill>
                <a:latin typeface="Century Gothic"/>
              </a:rPr>
              <a:t>Perception: act, then read the results</a:t>
            </a:r>
          </a:p>
        </p:txBody>
      </p:sp>
    </p:spTree>
    <p:extLst>
      <p:ext uri="{BB962C8B-B14F-4D97-AF65-F5344CB8AC3E}">
        <p14:creationId xmlns:p14="http://schemas.microsoft.com/office/powerpoint/2010/main" val="1363298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0">
                <a:solidFill>
                  <a:srgbClr val="0B1F33"/>
                </a:solidFill>
                <a:latin typeface="Century Gothic"/>
              </a:rPr>
              <a:t>Two kinds of memory: short- and long-term</a:t>
            </a:r>
          </a:p>
        </p:txBody>
      </p:sp>
      <p:pic>
        <p:nvPicPr>
          <p:cNvPr id="4" name="Picture 3" descr="05_memory.png"/>
          <p:cNvPicPr>
            <a:picLocks noChangeAspect="1"/>
          </p:cNvPicPr>
          <p:nvPr/>
        </p:nvPicPr>
        <p:blipFill>
          <a:blip r:embed="rId3"/>
          <a:stretch>
            <a:fillRect/>
          </a:stretch>
        </p:blipFill>
        <p:spPr>
          <a:xfrm>
            <a:off x="609447" y="1577339"/>
            <a:ext cx="10972800" cy="4572000"/>
          </a:xfrm>
          <a:prstGeom prst="rect">
            <a:avLst/>
          </a:prstGeom>
        </p:spPr>
      </p:pic>
      <p:sp>
        <p:nvSpPr>
          <p:cNvPr id="5" name="TextBox 4"/>
          <p:cNvSpPr txBox="1"/>
          <p:nvPr/>
        </p:nvSpPr>
        <p:spPr>
          <a:xfrm>
            <a:off x="402336" y="6647688"/>
            <a:ext cx="2926080" cy="274320"/>
          </a:xfrm>
          <a:prstGeom prst="rect">
            <a:avLst/>
          </a:prstGeom>
          <a:noFill/>
        </p:spPr>
        <p:txBody>
          <a:bodyPr wrap="none">
            <a:spAutoFit/>
          </a:bodyPr>
          <a:lstStyle/>
          <a:p>
            <a:r>
              <a:rPr sz="1100">
                <a:solidFill>
                  <a:srgbClr val="8A939A"/>
                </a:solidFill>
                <a:latin typeface="Century Gothic"/>
              </a:rPr>
              <a:t>Ligorio - AI Agents</a:t>
            </a:r>
          </a:p>
        </p:txBody>
      </p:sp>
      <p:sp>
        <p:nvSpPr>
          <p:cNvPr id="6" name="TextBox 5"/>
          <p:cNvSpPr txBox="1"/>
          <p:nvPr/>
        </p:nvSpPr>
        <p:spPr>
          <a:xfrm>
            <a:off x="11155680" y="256032"/>
            <a:ext cx="658368" cy="329184"/>
          </a:xfrm>
          <a:prstGeom prst="rect">
            <a:avLst/>
          </a:prstGeom>
          <a:noFill/>
        </p:spPr>
        <p:txBody>
          <a:bodyPr wrap="none">
            <a:spAutoFit/>
          </a:bodyPr>
          <a:lstStyle/>
          <a:p>
            <a:pPr algn="ctr"/>
            <a:fld id="{5F1B0A5E-3A4C-4E77-9C21-2E0B7A8F00FF}" type="slidenum">
              <a:rPr lang="en-US" sz="1350">
                <a:solidFill>
                  <a:srgbClr val="8A939A"/>
                </a:solidFill>
              </a:rPr>
              <a:t>8</a:t>
            </a:fld>
            <a:endParaRPr lang="en-US" sz="1350">
              <a:solidFill>
                <a:srgbClr val="8A939A"/>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0" name="Teal Bar"/>
          <p:cNvSpPr/>
          <p:nvPr/>
        </p:nvSpPr>
        <p:spPr>
          <a:xfrm>
            <a:off x="914400" y="2788920"/>
            <a:ext cx="1280160" cy="109728"/>
          </a:xfrm>
          <a:prstGeom prst="roundRect">
            <a:avLst/>
          </a:prstGeom>
          <a:solidFill>
            <a:srgbClr val="58C1BA"/>
          </a:solidFill>
          <a:ln>
            <a:noFill/>
          </a:ln>
        </p:spPr>
        <p:txBody>
          <a:bodyPr/>
          <a:lstStyle/>
          <a:p>
            <a:endParaRPr lang="en-US"/>
          </a:p>
        </p:txBody>
      </p:sp>
      <p:sp>
        <p:nvSpPr>
          <p:cNvPr id="11" name="Section Title"/>
          <p:cNvSpPr txBox="1"/>
          <p:nvPr/>
        </p:nvSpPr>
        <p:spPr>
          <a:xfrm>
            <a:off x="914400" y="3063240"/>
            <a:ext cx="10332720" cy="1280160"/>
          </a:xfrm>
          <a:prstGeom prst="rect">
            <a:avLst/>
          </a:prstGeom>
          <a:noFill/>
        </p:spPr>
        <p:txBody>
          <a:bodyPr wrap="square" rtlCol="0">
            <a:normAutofit/>
          </a:bodyPr>
          <a:lstStyle/>
          <a:p>
            <a:pPr algn="l"/>
            <a:r>
              <a:rPr lang="en-US" sz="3800" b="1" dirty="0">
                <a:solidFill>
                  <a:srgbClr val="FFFFFF"/>
                </a:solidFill>
              </a:rPr>
              <a:t>The ReAct Loop</a:t>
            </a:r>
          </a:p>
        </p:txBody>
      </p:sp>
      <p:sp>
        <p:nvSpPr>
          <p:cNvPr id="12" name="Section Subtitle"/>
          <p:cNvSpPr txBox="1"/>
          <p:nvPr/>
        </p:nvSpPr>
        <p:spPr>
          <a:xfrm>
            <a:off x="941832" y="4343400"/>
            <a:ext cx="10058400" cy="548640"/>
          </a:xfrm>
          <a:prstGeom prst="rect">
            <a:avLst/>
          </a:prstGeom>
          <a:noFill/>
        </p:spPr>
        <p:txBody>
          <a:bodyPr wrap="square" rtlCol="0">
            <a:normAutofit/>
          </a:bodyPr>
          <a:lstStyle/>
          <a:p>
            <a:pPr algn="l"/>
            <a:r>
              <a:rPr lang="en-US" sz="1600" i="1" dirty="0">
                <a:solidFill>
                  <a:srgbClr val="9FB4C7"/>
                </a:solidFill>
              </a:rPr>
              <a:t>Reasoning and acting, interleaved</a:t>
            </a:r>
          </a:p>
        </p:txBody>
      </p:sp>
      <p:sp>
        <p:nvSpPr>
          <p:cNvPr id="13" name="Footer"/>
          <p:cNvSpPr txBox="1"/>
          <p:nvPr/>
        </p:nvSpPr>
        <p:spPr>
          <a:xfrm>
            <a:off x="402336" y="6647688"/>
            <a:ext cx="2926080" cy="274320"/>
          </a:xfrm>
          <a:prstGeom prst="rect">
            <a:avLst/>
          </a:prstGeom>
          <a:noFill/>
        </p:spPr>
        <p:txBody>
          <a:bodyPr/>
          <a:lstStyle/>
          <a:p>
            <a:pPr algn="l"/>
            <a:r>
              <a:rPr lang="en-US" sz="900" dirty="0">
                <a:solidFill>
                  <a:srgbClr val="8A939A"/>
                </a:solidFill>
              </a:rPr>
              <a:t>Ligorio - AI Agents</a:t>
            </a:r>
          </a:p>
        </p:txBody>
      </p:sp>
      <p:sp>
        <p:nvSpPr>
          <p:cNvPr id="14" name="Slide Number"/>
          <p:cNvSpPr txBox="1"/>
          <p:nvPr/>
        </p:nvSpPr>
        <p:spPr>
          <a:xfrm>
            <a:off x="11201400" y="265176"/>
            <a:ext cx="612648" cy="320040"/>
          </a:xfrm>
          <a:prstGeom prst="rect">
            <a:avLst/>
          </a:prstGeom>
          <a:noFill/>
        </p:spPr>
        <p:txBody>
          <a:bodyPr/>
          <a:lstStyle/>
          <a:p>
            <a:pPr algn="ctr"/>
            <a:fld id="{5F1B0A5E-3A4C-4E77-9C21-2E0B7A8F0001}" type="slidenum">
              <a:rPr lang="en-US" sz="1350">
                <a:solidFill>
                  <a:srgbClr val="8A939A"/>
                </a:solidFill>
              </a:rPr>
              <a:t>9</a:t>
            </a:fld>
            <a:endParaRPr lang="en-US" sz="13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0">
                <a:solidFill>
                  <a:srgbClr val="0B1F33"/>
                </a:solidFill>
                <a:latin typeface="Century Gothic"/>
              </a:rPr>
              <a:t>Reasoning and acting are stronger together</a:t>
            </a:r>
          </a:p>
        </p:txBody>
      </p:sp>
      <p:pic>
        <p:nvPicPr>
          <p:cNvPr id="4" name="Picture 3" descr="01_why_react.png"/>
          <p:cNvPicPr>
            <a:picLocks noChangeAspect="1"/>
          </p:cNvPicPr>
          <p:nvPr/>
        </p:nvPicPr>
        <p:blipFill>
          <a:blip r:embed="rId3"/>
          <a:stretch>
            <a:fillRect/>
          </a:stretch>
        </p:blipFill>
        <p:spPr>
          <a:xfrm>
            <a:off x="609447" y="1668780"/>
            <a:ext cx="10972800" cy="4389120"/>
          </a:xfrm>
          <a:prstGeom prst="rect">
            <a:avLst/>
          </a:prstGeom>
        </p:spPr>
      </p:pic>
      <p:sp>
        <p:nvSpPr>
          <p:cNvPr id="5" name="TextBox 4"/>
          <p:cNvSpPr txBox="1"/>
          <p:nvPr/>
        </p:nvSpPr>
        <p:spPr>
          <a:xfrm>
            <a:off x="402336" y="6647688"/>
            <a:ext cx="2926080" cy="274320"/>
          </a:xfrm>
          <a:prstGeom prst="rect">
            <a:avLst/>
          </a:prstGeom>
          <a:noFill/>
        </p:spPr>
        <p:txBody>
          <a:bodyPr wrap="none">
            <a:spAutoFit/>
          </a:bodyPr>
          <a:lstStyle/>
          <a:p>
            <a:r>
              <a:rPr sz="1100">
                <a:solidFill>
                  <a:srgbClr val="8A939A"/>
                </a:solidFill>
                <a:latin typeface="Century Gothic"/>
              </a:rPr>
              <a:t>Ligorio - AI Agents</a:t>
            </a:r>
          </a:p>
        </p:txBody>
      </p:sp>
      <p:sp>
        <p:nvSpPr>
          <p:cNvPr id="6" name="TextBox 5"/>
          <p:cNvSpPr txBox="1"/>
          <p:nvPr/>
        </p:nvSpPr>
        <p:spPr>
          <a:xfrm>
            <a:off x="11155680" y="256032"/>
            <a:ext cx="658368" cy="329184"/>
          </a:xfrm>
          <a:prstGeom prst="rect">
            <a:avLst/>
          </a:prstGeom>
          <a:noFill/>
        </p:spPr>
        <p:txBody>
          <a:bodyPr wrap="none">
            <a:spAutoFit/>
          </a:bodyPr>
          <a:lstStyle/>
          <a:p>
            <a:pPr algn="ctr"/>
            <a:fld id="{5F1B0A5E-3A4C-4E77-9C21-2E0B7A8F00FF}" type="slidenum">
              <a:rPr lang="en-US" sz="1350">
                <a:solidFill>
                  <a:srgbClr val="8A939A"/>
                </a:solidFill>
              </a:rPr>
              <a:t>10</a:t>
            </a:fld>
            <a:endParaRPr lang="en-US" sz="1350">
              <a:solidFill>
                <a:srgbClr val="8A939A"/>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FA882-E094-EC5A-7B13-EAEC34D22681}"/>
              </a:ext>
            </a:extLst>
          </p:cNvPr>
          <p:cNvSpPr>
            <a:spLocks noGrp="1"/>
          </p:cNvSpPr>
          <p:nvPr>
            <p:ph type="title"/>
          </p:nvPr>
        </p:nvSpPr>
        <p:spPr>
          <a:xfrm>
            <a:off x="643855" y="507641"/>
            <a:ext cx="3108626" cy="1444752"/>
          </a:xfrm>
        </p:spPr>
        <p:txBody>
          <a:bodyPr anchor="b">
            <a:normAutofit/>
          </a:bodyPr>
          <a:lstStyle/>
          <a:p>
            <a:r>
              <a:rPr sz="2800" b="0">
                <a:solidFill>
                  <a:srgbClr val="0B1F33"/>
                </a:solidFill>
                <a:latin typeface="Century Gothic"/>
              </a:rPr>
              <a:t>The loop: Think, Act, Observe, repeat</a:t>
            </a:r>
          </a:p>
        </p:txBody>
      </p:sp>
      <p:sp>
        <p:nvSpPr>
          <p:cNvPr id="4" name="Footer Placeholder 3">
            <a:extLst>
              <a:ext uri="{FF2B5EF4-FFF2-40B4-BE49-F238E27FC236}">
                <a16:creationId xmlns:a16="http://schemas.microsoft.com/office/drawing/2014/main" id="{2BE50EC4-F5F1-9CA8-EDED-75B180A050C6}"/>
              </a:ext>
            </a:extLst>
          </p:cNvPr>
          <p:cNvSpPr>
            <a:spLocks noGrp="1"/>
          </p:cNvSpPr>
          <p:nvPr>
            <p:ph type="ftr" sz="quarter" idx="11"/>
          </p:nvPr>
        </p:nvSpPr>
        <p:spPr>
          <a:xfrm>
            <a:off x="402336" y="6647688"/>
            <a:ext cx="2926080" cy="274320"/>
          </a:xfrm>
        </p:spPr>
        <p:txBody>
          <a:bodyPr>
            <a:normAutofit/>
          </a:bodyPr>
          <a:lstStyle/>
          <a:p>
            <a:pPr>
              <a:spcAft>
                <a:spcPts val="600"/>
              </a:spcAft>
            </a:pPr>
            <a:r>
              <a:rPr lang="en-US">
                <a:solidFill>
                  <a:srgbClr val="FFFFFF">
                    <a:alpha val="60000"/>
                  </a:srgbClr>
                </a:solidFill>
              </a:rPr>
              <a:t>Ligorio - AI Agents</a:t>
            </a:r>
          </a:p>
        </p:txBody>
      </p:sp>
      <p:sp>
        <p:nvSpPr>
          <p:cNvPr id="5" name="Slide Number Placeholder 4">
            <a:extLst>
              <a:ext uri="{FF2B5EF4-FFF2-40B4-BE49-F238E27FC236}">
                <a16:creationId xmlns:a16="http://schemas.microsoft.com/office/drawing/2014/main" id="{DC7FCC3D-5156-928D-AE19-2AAF8DE67ED4}"/>
              </a:ext>
            </a:extLst>
          </p:cNvPr>
          <p:cNvSpPr>
            <a:spLocks noGrp="1"/>
          </p:cNvSpPr>
          <p:nvPr>
            <p:ph type="sldNum" sz="quarter" idx="12"/>
          </p:nvPr>
        </p:nvSpPr>
        <p:spPr/>
        <p:txBody>
          <a:bodyPr>
            <a:normAutofit/>
          </a:bodyPr>
          <a:lstStyle/>
          <a:p>
            <a:pPr>
              <a:spcAft>
                <a:spcPts val="600"/>
              </a:spcAft>
            </a:pPr>
            <a:fld id="{D57F1E4F-1CFF-5643-939E-02111984F565}" type="slidenum">
              <a:rPr lang="en-US">
                <a:solidFill>
                  <a:srgbClr val="8A939A"/>
                </a:solidFill>
              </a:rPr>
              <a:pPr>
                <a:spcAft>
                  <a:spcPts val="600"/>
                </a:spcAft>
              </a:pPr>
              <a:t>11</a:t>
            </a:fld>
            <a:endParaRPr lang="en-US">
              <a:solidFill>
                <a:srgbClr val="8A939A"/>
              </a:solidFill>
            </a:endParaRPr>
          </a:p>
        </p:txBody>
      </p:sp>
      <p:pic>
        <p:nvPicPr>
          <p:cNvPr id="7" name="Picture 6" descr="The ReAct Agent">
            <a:extLst>
              <a:ext uri="{FF2B5EF4-FFF2-40B4-BE49-F238E27FC236}">
                <a16:creationId xmlns:a16="http://schemas.microsoft.com/office/drawing/2014/main" id="{F36A9633-169B-62F1-E0D6-0B798E00B1D7}"/>
              </a:ext>
            </a:extLst>
          </p:cNvPr>
          <p:cNvPicPr>
            <a:picLocks noChangeAspect="1"/>
          </p:cNvPicPr>
          <p:nvPr/>
        </p:nvPicPr>
        <p:blipFill>
          <a:blip r:embed="rId3"/>
          <a:stretch>
            <a:fillRect/>
          </a:stretch>
        </p:blipFill>
        <p:spPr>
          <a:xfrm>
            <a:off x="2965570" y="1417320"/>
            <a:ext cx="6260553" cy="4892040"/>
          </a:xfrm>
          <a:prstGeom prst="rect">
            <a:avLst/>
          </a:prstGeom>
        </p:spPr>
      </p:pic>
    </p:spTree>
    <p:extLst>
      <p:ext uri="{BB962C8B-B14F-4D97-AF65-F5344CB8AC3E}">
        <p14:creationId xmlns:p14="http://schemas.microsoft.com/office/powerpoint/2010/main" val="1514973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0">
                <a:solidFill>
                  <a:srgbClr val="0B1F33"/>
                </a:solidFill>
                <a:latin typeface="Century Gothic"/>
              </a:rPr>
              <a:t>A ReAct run, one step at a time</a:t>
            </a:r>
          </a:p>
        </p:txBody>
      </p:sp>
      <p:pic>
        <p:nvPicPr>
          <p:cNvPr id="4" name="Picture 3" descr="02_react_trace.png"/>
          <p:cNvPicPr>
            <a:picLocks noChangeAspect="1"/>
          </p:cNvPicPr>
          <p:nvPr/>
        </p:nvPicPr>
        <p:blipFill>
          <a:blip r:embed="rId3"/>
          <a:stretch>
            <a:fillRect/>
          </a:stretch>
        </p:blipFill>
        <p:spPr>
          <a:xfrm>
            <a:off x="759076" y="1417320"/>
            <a:ext cx="10673541" cy="4892040"/>
          </a:xfrm>
          <a:prstGeom prst="rect">
            <a:avLst/>
          </a:prstGeom>
        </p:spPr>
      </p:pic>
      <p:sp>
        <p:nvSpPr>
          <p:cNvPr id="5" name="TextBox 4"/>
          <p:cNvSpPr txBox="1"/>
          <p:nvPr/>
        </p:nvSpPr>
        <p:spPr>
          <a:xfrm>
            <a:off x="402336" y="6647688"/>
            <a:ext cx="2926080" cy="274320"/>
          </a:xfrm>
          <a:prstGeom prst="rect">
            <a:avLst/>
          </a:prstGeom>
          <a:noFill/>
        </p:spPr>
        <p:txBody>
          <a:bodyPr wrap="none">
            <a:spAutoFit/>
          </a:bodyPr>
          <a:lstStyle/>
          <a:p>
            <a:r>
              <a:rPr sz="1100">
                <a:solidFill>
                  <a:srgbClr val="8A939A"/>
                </a:solidFill>
                <a:latin typeface="Century Gothic"/>
              </a:rPr>
              <a:t>Ligorio - AI Agents</a:t>
            </a:r>
          </a:p>
        </p:txBody>
      </p:sp>
      <p:sp>
        <p:nvSpPr>
          <p:cNvPr id="6" name="TextBox 5"/>
          <p:cNvSpPr txBox="1"/>
          <p:nvPr/>
        </p:nvSpPr>
        <p:spPr>
          <a:xfrm>
            <a:off x="11155680" y="256032"/>
            <a:ext cx="658368" cy="329184"/>
          </a:xfrm>
          <a:prstGeom prst="rect">
            <a:avLst/>
          </a:prstGeom>
          <a:noFill/>
        </p:spPr>
        <p:txBody>
          <a:bodyPr wrap="none">
            <a:spAutoFit/>
          </a:bodyPr>
          <a:lstStyle/>
          <a:p>
            <a:pPr algn="ctr"/>
            <a:fld id="{5F1B0A5E-3A4C-4E77-9C21-2E0B7A8F00FF}" type="slidenum">
              <a:rPr lang="en-US" sz="1350">
                <a:solidFill>
                  <a:srgbClr val="8A939A"/>
                </a:solidFill>
              </a:rPr>
              <a:t>12</a:t>
            </a:fld>
            <a:endParaRPr lang="en-US" sz="1350">
              <a:solidFill>
                <a:srgbClr val="8A939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0">
                <a:solidFill>
                  <a:srgbClr val="0B1F33"/>
                </a:solidFill>
                <a:latin typeface="Century Gothic"/>
              </a:rPr>
              <a:t>Guardrails keep the loop safe and bounded</a:t>
            </a:r>
          </a:p>
        </p:txBody>
      </p:sp>
      <p:pic>
        <p:nvPicPr>
          <p:cNvPr id="4" name="Picture 3" descr="03_termination.png"/>
          <p:cNvPicPr>
            <a:picLocks noChangeAspect="1"/>
          </p:cNvPicPr>
          <p:nvPr/>
        </p:nvPicPr>
        <p:blipFill>
          <a:blip r:embed="rId3"/>
          <a:stretch>
            <a:fillRect/>
          </a:stretch>
        </p:blipFill>
        <p:spPr>
          <a:xfrm>
            <a:off x="991110" y="1417320"/>
            <a:ext cx="10209474" cy="4892040"/>
          </a:xfrm>
          <a:prstGeom prst="rect">
            <a:avLst/>
          </a:prstGeom>
        </p:spPr>
      </p:pic>
      <p:sp>
        <p:nvSpPr>
          <p:cNvPr id="5" name="TextBox 4"/>
          <p:cNvSpPr txBox="1"/>
          <p:nvPr/>
        </p:nvSpPr>
        <p:spPr>
          <a:xfrm>
            <a:off x="402336" y="6647688"/>
            <a:ext cx="2926080" cy="274320"/>
          </a:xfrm>
          <a:prstGeom prst="rect">
            <a:avLst/>
          </a:prstGeom>
          <a:noFill/>
        </p:spPr>
        <p:txBody>
          <a:bodyPr wrap="none">
            <a:spAutoFit/>
          </a:bodyPr>
          <a:lstStyle/>
          <a:p>
            <a:r>
              <a:rPr sz="1100">
                <a:solidFill>
                  <a:srgbClr val="8A939A"/>
                </a:solidFill>
                <a:latin typeface="Century Gothic"/>
              </a:rPr>
              <a:t>Ligorio - AI Agents</a:t>
            </a:r>
          </a:p>
        </p:txBody>
      </p:sp>
      <p:sp>
        <p:nvSpPr>
          <p:cNvPr id="6" name="TextBox 5"/>
          <p:cNvSpPr txBox="1"/>
          <p:nvPr/>
        </p:nvSpPr>
        <p:spPr>
          <a:xfrm>
            <a:off x="11155680" y="256032"/>
            <a:ext cx="658368" cy="329184"/>
          </a:xfrm>
          <a:prstGeom prst="rect">
            <a:avLst/>
          </a:prstGeom>
          <a:noFill/>
        </p:spPr>
        <p:txBody>
          <a:bodyPr wrap="none">
            <a:spAutoFit/>
          </a:bodyPr>
          <a:lstStyle/>
          <a:p>
            <a:pPr algn="ctr"/>
            <a:fld id="{5F1B0A5E-3A4C-4E77-9C21-2E0B7A8F00FF}" type="slidenum">
              <a:rPr lang="en-US" sz="1350">
                <a:solidFill>
                  <a:srgbClr val="8A939A"/>
                </a:solidFill>
              </a:rPr>
              <a:t>13</a:t>
            </a:fld>
            <a:endParaRPr lang="en-US" sz="1350">
              <a:solidFill>
                <a:srgbClr val="8A939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0" name="Teal Bar"/>
          <p:cNvSpPr/>
          <p:nvPr/>
        </p:nvSpPr>
        <p:spPr>
          <a:xfrm>
            <a:off x="914400" y="2788920"/>
            <a:ext cx="1280160" cy="109728"/>
          </a:xfrm>
          <a:prstGeom prst="roundRect">
            <a:avLst/>
          </a:prstGeom>
          <a:solidFill>
            <a:srgbClr val="58C1BA"/>
          </a:solidFill>
          <a:ln>
            <a:noFill/>
          </a:ln>
        </p:spPr>
        <p:txBody>
          <a:bodyPr/>
          <a:lstStyle/>
          <a:p>
            <a:endParaRPr lang="en-US"/>
          </a:p>
        </p:txBody>
      </p:sp>
      <p:sp>
        <p:nvSpPr>
          <p:cNvPr id="11" name="Section Title"/>
          <p:cNvSpPr txBox="1"/>
          <p:nvPr/>
        </p:nvSpPr>
        <p:spPr>
          <a:xfrm>
            <a:off x="914400" y="3063240"/>
            <a:ext cx="10332720" cy="1280160"/>
          </a:xfrm>
          <a:prstGeom prst="rect">
            <a:avLst/>
          </a:prstGeom>
          <a:noFill/>
        </p:spPr>
        <p:txBody>
          <a:bodyPr wrap="square" rtlCol="0">
            <a:normAutofit/>
          </a:bodyPr>
          <a:lstStyle/>
          <a:p>
            <a:pPr algn="l"/>
            <a:r>
              <a:rPr lang="en-US" sz="3800" b="1" dirty="0">
                <a:solidFill>
                  <a:srgbClr val="FFFFFF"/>
                </a:solidFill>
              </a:rPr>
              <a:t>Tool Use</a:t>
            </a:r>
          </a:p>
        </p:txBody>
      </p:sp>
      <p:sp>
        <p:nvSpPr>
          <p:cNvPr id="12" name="Section Subtitle"/>
          <p:cNvSpPr txBox="1"/>
          <p:nvPr/>
        </p:nvSpPr>
        <p:spPr>
          <a:xfrm>
            <a:off x="941832" y="4343400"/>
            <a:ext cx="10058400" cy="548640"/>
          </a:xfrm>
          <a:prstGeom prst="rect">
            <a:avLst/>
          </a:prstGeom>
          <a:noFill/>
        </p:spPr>
        <p:txBody>
          <a:bodyPr wrap="square" rtlCol="0">
            <a:normAutofit/>
          </a:bodyPr>
          <a:lstStyle/>
          <a:p>
            <a:pPr algn="l"/>
            <a:r>
              <a:rPr lang="en-US" sz="1600" i="1" dirty="0">
                <a:solidFill>
                  <a:srgbClr val="9FB4C7"/>
                </a:solidFill>
              </a:rPr>
              <a:t>How an agent acts on the world</a:t>
            </a:r>
          </a:p>
        </p:txBody>
      </p:sp>
      <p:sp>
        <p:nvSpPr>
          <p:cNvPr id="13" name="Footer"/>
          <p:cNvSpPr txBox="1"/>
          <p:nvPr/>
        </p:nvSpPr>
        <p:spPr>
          <a:xfrm>
            <a:off x="402336" y="6647688"/>
            <a:ext cx="2926080" cy="274320"/>
          </a:xfrm>
          <a:prstGeom prst="rect">
            <a:avLst/>
          </a:prstGeom>
          <a:noFill/>
        </p:spPr>
        <p:txBody>
          <a:bodyPr/>
          <a:lstStyle/>
          <a:p>
            <a:pPr algn="l"/>
            <a:r>
              <a:rPr lang="en-US" sz="900" dirty="0">
                <a:solidFill>
                  <a:srgbClr val="8A939A"/>
                </a:solidFill>
              </a:rPr>
              <a:t>Ligorio - AI Agents</a:t>
            </a:r>
          </a:p>
        </p:txBody>
      </p:sp>
      <p:sp>
        <p:nvSpPr>
          <p:cNvPr id="14" name="Slide Number"/>
          <p:cNvSpPr txBox="1"/>
          <p:nvPr/>
        </p:nvSpPr>
        <p:spPr>
          <a:xfrm>
            <a:off x="11201400" y="265176"/>
            <a:ext cx="612648" cy="320040"/>
          </a:xfrm>
          <a:prstGeom prst="rect">
            <a:avLst/>
          </a:prstGeom>
          <a:noFill/>
        </p:spPr>
        <p:txBody>
          <a:bodyPr/>
          <a:lstStyle/>
          <a:p>
            <a:pPr algn="ctr"/>
            <a:fld id="{5F1B0A5E-3A4C-4E77-9C21-2E0B7A8F0001}" type="slidenum">
              <a:rPr lang="en-US" sz="1350">
                <a:solidFill>
                  <a:srgbClr val="8A939A"/>
                </a:solidFill>
              </a:rPr>
              <a:t>14</a:t>
            </a:fld>
            <a:endParaRPr lang="en-US" sz="13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B116-8F18-2BE7-3ABB-3CA55300ADDD}"/>
              </a:ext>
            </a:extLst>
          </p:cNvPr>
          <p:cNvSpPr>
            <a:spLocks noGrp="1"/>
          </p:cNvSpPr>
          <p:nvPr>
            <p:ph type="title"/>
          </p:nvPr>
        </p:nvSpPr>
        <p:spPr>
          <a:xfrm>
            <a:off x="614266" y="284873"/>
            <a:ext cx="10515600" cy="1325563"/>
          </a:xfrm>
        </p:spPr>
        <p:txBody>
          <a:bodyPr/>
          <a:lstStyle/>
          <a:p>
            <a:r>
              <a:rPr sz="2800" b="0">
                <a:solidFill>
                  <a:srgbClr val="0B1F33"/>
                </a:solidFill>
                <a:latin typeface="Century Gothic"/>
              </a:rPr>
              <a:t>An agent acts by requesting a function call</a:t>
            </a:r>
          </a:p>
        </p:txBody>
      </p:sp>
      <p:sp>
        <p:nvSpPr>
          <p:cNvPr id="4" name="Footer Placeholder 3">
            <a:extLst>
              <a:ext uri="{FF2B5EF4-FFF2-40B4-BE49-F238E27FC236}">
                <a16:creationId xmlns:a16="http://schemas.microsoft.com/office/drawing/2014/main" id="{ADBF9B26-6DFE-F41A-4FB3-7C8141C64F5C}"/>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p>
        </p:txBody>
      </p:sp>
      <p:sp>
        <p:nvSpPr>
          <p:cNvPr id="5" name="Slide Number Placeholder 4">
            <a:extLst>
              <a:ext uri="{FF2B5EF4-FFF2-40B4-BE49-F238E27FC236}">
                <a16:creationId xmlns:a16="http://schemas.microsoft.com/office/drawing/2014/main" id="{DF7C4F5D-CFEB-8F25-957F-A1F9E7346C7A}"/>
              </a:ext>
            </a:extLst>
          </p:cNvPr>
          <p:cNvSpPr>
            <a:spLocks noGrp="1"/>
          </p:cNvSpPr>
          <p:nvPr>
            <p:ph type="sldNum" sz="quarter" idx="12"/>
          </p:nvPr>
        </p:nvSpPr>
        <p:spPr/>
        <p:txBody>
          <a:bodyPr/>
          <a:lstStyle/>
          <a:p>
            <a:fld id="{D57F1E4F-1CFF-5643-939E-02111984F565}" type="slidenum">
              <a:rPr lang="en-US" smtClean="0">
                <a:solidFill>
                  <a:srgbClr val="8A939A"/>
                </a:solidFill>
              </a:rPr>
              <a:t>15</a:t>
            </a:fld>
            <a:endParaRPr lang="en-US">
              <a:solidFill>
                <a:srgbClr val="8A939A"/>
              </a:solidFill>
            </a:endParaRPr>
          </a:p>
        </p:txBody>
      </p:sp>
      <p:sp>
        <p:nvSpPr>
          <p:cNvPr id="27" name="Rounded Rectangle 26"/>
          <p:cNvSpPr/>
          <p:nvPr/>
        </p:nvSpPr>
        <p:spPr>
          <a:xfrm>
            <a:off x="822960" y="141732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43000" y="141732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Tool = function = action</a:t>
            </a:r>
          </a:p>
        </p:txBody>
      </p:sp>
      <p:sp>
        <p:nvSpPr>
          <p:cNvPr id="29" name="TextBox 28"/>
          <p:cNvSpPr txBox="1"/>
          <p:nvPr/>
        </p:nvSpPr>
        <p:spPr>
          <a:xfrm>
            <a:off x="4617720" y="141732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different words for a capability the agent can invoke</a:t>
            </a:r>
          </a:p>
        </p:txBody>
      </p:sp>
      <p:sp>
        <p:nvSpPr>
          <p:cNvPr id="30" name="Rounded Rectangle 29"/>
          <p:cNvSpPr/>
          <p:nvPr/>
        </p:nvSpPr>
        <p:spPr>
          <a:xfrm>
            <a:off x="822960" y="246888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43000" y="246888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The agent decides</a:t>
            </a:r>
          </a:p>
        </p:txBody>
      </p:sp>
      <p:sp>
        <p:nvSpPr>
          <p:cNvPr id="32" name="TextBox 31"/>
          <p:cNvSpPr txBox="1"/>
          <p:nvPr/>
        </p:nvSpPr>
        <p:spPr>
          <a:xfrm>
            <a:off x="4617720" y="246888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if and when to call a tool, and requests the function call</a:t>
            </a:r>
          </a:p>
        </p:txBody>
      </p:sp>
      <p:sp>
        <p:nvSpPr>
          <p:cNvPr id="33" name="Rounded Rectangle 32"/>
          <p:cNvSpPr/>
          <p:nvPr/>
        </p:nvSpPr>
        <p:spPr>
          <a:xfrm>
            <a:off x="822960" y="352044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43000" y="352044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Keep the set small</a:t>
            </a:r>
          </a:p>
        </p:txBody>
      </p:sp>
      <p:sp>
        <p:nvSpPr>
          <p:cNvPr id="35" name="TextBox 34"/>
          <p:cNvSpPr txBox="1"/>
          <p:nvPr/>
        </p:nvSpPr>
        <p:spPr>
          <a:xfrm>
            <a:off x="4617720" y="352044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fewer, specialized tools -&gt; more reliable selection</a:t>
            </a:r>
          </a:p>
        </p:txBody>
      </p:sp>
      <p:sp>
        <p:nvSpPr>
          <p:cNvPr id="36" name="Rounded Rectangle 35"/>
          <p:cNvSpPr/>
          <p:nvPr/>
        </p:nvSpPr>
        <p:spPr>
          <a:xfrm>
            <a:off x="822960" y="5989320"/>
            <a:ext cx="10515600" cy="548640"/>
          </a:xfrm>
          <a:prstGeom prst="roundRect">
            <a:avLst>
              <a:gd name="adj" fmla="val 30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97280" y="5989320"/>
            <a:ext cx="9966960" cy="548640"/>
          </a:xfrm>
          <a:prstGeom prst="rect">
            <a:avLst/>
          </a:prstGeom>
          <a:noFill/>
        </p:spPr>
        <p:txBody>
          <a:bodyPr wrap="square" lIns="38100" rIns="38100" anchor="ctr">
            <a:spAutoFit/>
          </a:bodyPr>
          <a:lstStyle/>
          <a:p>
            <a:pPr algn="l"/>
            <a:r>
              <a:rPr sz="1500" b="1" i="1">
                <a:solidFill>
                  <a:srgbClr val="1E5155"/>
                </a:solidFill>
                <a:latin typeface="Century Gothic"/>
              </a:rPr>
              <a:t>Tools are how the agent acts; the model chooses when to use them.</a:t>
            </a:r>
          </a:p>
        </p:txBody>
      </p:sp>
    </p:spTree>
    <p:extLst>
      <p:ext uri="{BB962C8B-B14F-4D97-AF65-F5344CB8AC3E}">
        <p14:creationId xmlns:p14="http://schemas.microsoft.com/office/powerpoint/2010/main" val="402036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718F3-8F03-DECE-6936-9F38D58B84EC}"/>
              </a:ext>
            </a:extLst>
          </p:cNvPr>
          <p:cNvSpPr>
            <a:spLocks noGrp="1"/>
          </p:cNvSpPr>
          <p:nvPr>
            <p:ph type="title"/>
          </p:nvPr>
        </p:nvSpPr>
        <p:spPr>
          <a:xfrm>
            <a:off x="645132" y="312359"/>
            <a:ext cx="10515600" cy="1325563"/>
          </a:xfrm>
        </p:spPr>
        <p:txBody>
          <a:bodyPr/>
          <a:lstStyle/>
          <a:p>
            <a:r>
              <a:rPr sz="2800" b="0">
                <a:solidFill>
                  <a:srgbClr val="0B1F33"/>
                </a:solidFill>
                <a:latin typeface="Century Gothic"/>
              </a:rPr>
              <a:t>The system message is the agent's policy</a:t>
            </a:r>
          </a:p>
        </p:txBody>
      </p:sp>
      <p:sp>
        <p:nvSpPr>
          <p:cNvPr id="4" name="Footer Placeholder 3">
            <a:extLst>
              <a:ext uri="{FF2B5EF4-FFF2-40B4-BE49-F238E27FC236}">
                <a16:creationId xmlns:a16="http://schemas.microsoft.com/office/drawing/2014/main" id="{F5B384C4-EE99-125B-BE14-72BD1E5F12C5}"/>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p>
        </p:txBody>
      </p:sp>
      <p:sp>
        <p:nvSpPr>
          <p:cNvPr id="5" name="Slide Number Placeholder 4">
            <a:extLst>
              <a:ext uri="{FF2B5EF4-FFF2-40B4-BE49-F238E27FC236}">
                <a16:creationId xmlns:a16="http://schemas.microsoft.com/office/drawing/2014/main" id="{96595D17-0343-99F1-2817-007CF066BAC0}"/>
              </a:ext>
            </a:extLst>
          </p:cNvPr>
          <p:cNvSpPr>
            <a:spLocks noGrp="1"/>
          </p:cNvSpPr>
          <p:nvPr>
            <p:ph type="sldNum" sz="quarter" idx="12"/>
          </p:nvPr>
        </p:nvSpPr>
        <p:spPr/>
        <p:txBody>
          <a:bodyPr/>
          <a:lstStyle/>
          <a:p>
            <a:fld id="{D57F1E4F-1CFF-5643-939E-02111984F565}" type="slidenum">
              <a:rPr lang="en-US" smtClean="0">
                <a:solidFill>
                  <a:srgbClr val="8A939A"/>
                </a:solidFill>
              </a:rPr>
              <a:t>16</a:t>
            </a:fld>
            <a:endParaRPr lang="en-US">
              <a:solidFill>
                <a:srgbClr val="8A939A"/>
              </a:solidFill>
            </a:endParaRPr>
          </a:p>
        </p:txBody>
      </p:sp>
      <p:sp>
        <p:nvSpPr>
          <p:cNvPr id="45" name="Rounded Rectangle 44"/>
          <p:cNvSpPr/>
          <p:nvPr/>
        </p:nvSpPr>
        <p:spPr>
          <a:xfrm>
            <a:off x="822960" y="141732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143000" y="141732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Tools &amp; schemas</a:t>
            </a:r>
          </a:p>
        </p:txBody>
      </p:sp>
      <p:sp>
        <p:nvSpPr>
          <p:cNvPr id="47" name="TextBox 46"/>
          <p:cNvSpPr txBox="1"/>
          <p:nvPr/>
        </p:nvSpPr>
        <p:spPr>
          <a:xfrm>
            <a:off x="4617720" y="141732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what the agent may call</a:t>
            </a:r>
          </a:p>
        </p:txBody>
      </p:sp>
      <p:sp>
        <p:nvSpPr>
          <p:cNvPr id="48" name="Rounded Rectangle 47"/>
          <p:cNvSpPr/>
          <p:nvPr/>
        </p:nvSpPr>
        <p:spPr>
          <a:xfrm>
            <a:off x="822960" y="246888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143000" y="246888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When &amp; how to call</a:t>
            </a:r>
          </a:p>
        </p:txBody>
      </p:sp>
      <p:sp>
        <p:nvSpPr>
          <p:cNvPr id="50" name="TextBox 49"/>
          <p:cNvSpPr txBox="1"/>
          <p:nvPr/>
        </p:nvSpPr>
        <p:spPr>
          <a:xfrm>
            <a:off x="4617720" y="246888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rules, priority order, formatting (e.g. JSON-only)</a:t>
            </a:r>
          </a:p>
        </p:txBody>
      </p:sp>
      <p:sp>
        <p:nvSpPr>
          <p:cNvPr id="51" name="Rounded Rectangle 50"/>
          <p:cNvSpPr/>
          <p:nvPr/>
        </p:nvSpPr>
        <p:spPr>
          <a:xfrm>
            <a:off x="822960" y="352044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143000" y="352044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Errors &amp; stopping</a:t>
            </a:r>
          </a:p>
        </p:txBody>
      </p:sp>
      <p:sp>
        <p:nvSpPr>
          <p:cNvPr id="53" name="TextBox 52"/>
          <p:cNvSpPr txBox="1"/>
          <p:nvPr/>
        </p:nvSpPr>
        <p:spPr>
          <a:xfrm>
            <a:off x="4617720" y="352044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retry rules and stop conditions</a:t>
            </a:r>
          </a:p>
        </p:txBody>
      </p:sp>
      <p:sp>
        <p:nvSpPr>
          <p:cNvPr id="54" name="Rounded Rectangle 53"/>
          <p:cNvSpPr/>
          <p:nvPr/>
        </p:nvSpPr>
        <p:spPr>
          <a:xfrm>
            <a:off x="822960" y="5989320"/>
            <a:ext cx="10515600" cy="548640"/>
          </a:xfrm>
          <a:prstGeom prst="roundRect">
            <a:avLst>
              <a:gd name="adj" fmla="val 30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97280" y="5989320"/>
            <a:ext cx="9966960" cy="548640"/>
          </a:xfrm>
          <a:prstGeom prst="rect">
            <a:avLst/>
          </a:prstGeom>
          <a:noFill/>
        </p:spPr>
        <p:txBody>
          <a:bodyPr wrap="square" lIns="38100" rIns="38100" anchor="ctr">
            <a:spAutoFit/>
          </a:bodyPr>
          <a:lstStyle/>
          <a:p>
            <a:pPr algn="l"/>
            <a:r>
              <a:rPr sz="1500" b="1" i="1">
                <a:solidFill>
                  <a:srgbClr val="1E5155"/>
                </a:solidFill>
                <a:latin typeface="Century Gothic"/>
              </a:rPr>
              <a:t>The system / developer message teaches the agent how to think and act.</a:t>
            </a:r>
          </a:p>
        </p:txBody>
      </p:sp>
    </p:spTree>
    <p:extLst>
      <p:ext uri="{BB962C8B-B14F-4D97-AF65-F5344CB8AC3E}">
        <p14:creationId xmlns:p14="http://schemas.microsoft.com/office/powerpoint/2010/main" val="3261564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2E786-F07A-B9C8-3256-0C9457B24A56}"/>
              </a:ext>
            </a:extLst>
          </p:cNvPr>
          <p:cNvSpPr>
            <a:spLocks noGrp="1"/>
          </p:cNvSpPr>
          <p:nvPr>
            <p:ph type="title"/>
          </p:nvPr>
        </p:nvSpPr>
        <p:spPr>
          <a:xfrm>
            <a:off x="381000" y="122237"/>
            <a:ext cx="10515600" cy="1325563"/>
          </a:xfrm>
        </p:spPr>
        <p:txBody>
          <a:bodyPr/>
          <a:lstStyle/>
          <a:p>
            <a:r>
              <a:rPr sz="2800" b="0">
                <a:solidFill>
                  <a:srgbClr val="0B1F33"/>
                </a:solidFill>
                <a:latin typeface="Century Gothic"/>
              </a:rPr>
              <a:t>A tool is described as JSON</a:t>
            </a:r>
          </a:p>
        </p:txBody>
      </p:sp>
      <p:sp>
        <p:nvSpPr>
          <p:cNvPr id="4" name="Footer Placeholder 3">
            <a:extLst>
              <a:ext uri="{FF2B5EF4-FFF2-40B4-BE49-F238E27FC236}">
                <a16:creationId xmlns:a16="http://schemas.microsoft.com/office/drawing/2014/main" id="{03E8BB47-A8C6-0648-B6E9-F948B7CC677E}"/>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endParaRPr lang="en-US" dirty="0">
              <a:solidFill>
                <a:srgbClr val="8A939A"/>
              </a:solidFill>
            </a:endParaRPr>
          </a:p>
        </p:txBody>
      </p:sp>
      <p:sp>
        <p:nvSpPr>
          <p:cNvPr id="5" name="Slide Number Placeholder 4">
            <a:extLst>
              <a:ext uri="{FF2B5EF4-FFF2-40B4-BE49-F238E27FC236}">
                <a16:creationId xmlns:a16="http://schemas.microsoft.com/office/drawing/2014/main" id="{0093EDB1-2286-74EB-4762-CA7C88402F95}"/>
              </a:ext>
            </a:extLst>
          </p:cNvPr>
          <p:cNvSpPr>
            <a:spLocks noGrp="1"/>
          </p:cNvSpPr>
          <p:nvPr>
            <p:ph type="sldNum" sz="quarter" idx="12"/>
          </p:nvPr>
        </p:nvSpPr>
        <p:spPr/>
        <p:txBody>
          <a:bodyPr/>
          <a:lstStyle/>
          <a:p>
            <a:fld id="{D57F1E4F-1CFF-5643-939E-02111984F565}" type="slidenum">
              <a:rPr lang="en-US" smtClean="0">
                <a:solidFill>
                  <a:srgbClr val="8A939A"/>
                </a:solidFill>
              </a:rPr>
              <a:t>17</a:t>
            </a:fld>
            <a:endParaRPr lang="en-US" dirty="0">
              <a:solidFill>
                <a:srgbClr val="8A939A"/>
              </a:solidFill>
            </a:endParaRPr>
          </a:p>
        </p:txBody>
      </p:sp>
      <p:sp>
        <p:nvSpPr>
          <p:cNvPr id="23" name="Rounded Rectangle 22"/>
          <p:cNvSpPr/>
          <p:nvPr/>
        </p:nvSpPr>
        <p:spPr>
          <a:xfrm>
            <a:off x="822960" y="141732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43000" y="141732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name</a:t>
            </a:r>
          </a:p>
        </p:txBody>
      </p:sp>
      <p:sp>
        <p:nvSpPr>
          <p:cNvPr id="25" name="TextBox 24"/>
          <p:cNvSpPr txBox="1"/>
          <p:nvPr/>
        </p:nvSpPr>
        <p:spPr>
          <a:xfrm>
            <a:off x="4617720" y="141732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a stable identifier for the tool</a:t>
            </a:r>
          </a:p>
        </p:txBody>
      </p:sp>
      <p:sp>
        <p:nvSpPr>
          <p:cNvPr id="26" name="Rounded Rectangle 25"/>
          <p:cNvSpPr/>
          <p:nvPr/>
        </p:nvSpPr>
        <p:spPr>
          <a:xfrm>
            <a:off x="822960" y="246888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43000" y="246888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description</a:t>
            </a:r>
          </a:p>
        </p:txBody>
      </p:sp>
      <p:sp>
        <p:nvSpPr>
          <p:cNvPr id="28" name="TextBox 27"/>
          <p:cNvSpPr txBox="1"/>
          <p:nvPr/>
        </p:nvSpPr>
        <p:spPr>
          <a:xfrm>
            <a:off x="4617720" y="246888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what it does, and when to use it</a:t>
            </a:r>
          </a:p>
        </p:txBody>
      </p:sp>
      <p:sp>
        <p:nvSpPr>
          <p:cNvPr id="29" name="Rounded Rectangle 28"/>
          <p:cNvSpPr/>
          <p:nvPr/>
        </p:nvSpPr>
        <p:spPr>
          <a:xfrm>
            <a:off x="822960" y="352044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43000" y="352044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parameters</a:t>
            </a:r>
          </a:p>
        </p:txBody>
      </p:sp>
      <p:sp>
        <p:nvSpPr>
          <p:cNvPr id="31" name="TextBox 30"/>
          <p:cNvSpPr txBox="1"/>
          <p:nvPr/>
        </p:nvSpPr>
        <p:spPr>
          <a:xfrm>
            <a:off x="4617720" y="352044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a JSON schema for the arguments the model must build</a:t>
            </a:r>
          </a:p>
        </p:txBody>
      </p:sp>
      <p:sp>
        <p:nvSpPr>
          <p:cNvPr id="32" name="Rounded Rectangle 31"/>
          <p:cNvSpPr/>
          <p:nvPr/>
        </p:nvSpPr>
        <p:spPr>
          <a:xfrm>
            <a:off x="822960" y="5989320"/>
            <a:ext cx="10515600" cy="548640"/>
          </a:xfrm>
          <a:prstGeom prst="roundRect">
            <a:avLst>
              <a:gd name="adj" fmla="val 30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97280" y="5989320"/>
            <a:ext cx="9966960" cy="548640"/>
          </a:xfrm>
          <a:prstGeom prst="rect">
            <a:avLst/>
          </a:prstGeom>
          <a:noFill/>
        </p:spPr>
        <p:txBody>
          <a:bodyPr wrap="square" lIns="38100" rIns="38100" anchor="ctr">
            <a:spAutoFit/>
          </a:bodyPr>
          <a:lstStyle/>
          <a:p>
            <a:pPr algn="l"/>
            <a:r>
              <a:rPr sz="1500" b="1" i="1">
                <a:solidFill>
                  <a:srgbClr val="1E5155"/>
                </a:solidFill>
                <a:latin typeface="Century Gothic"/>
              </a:rPr>
              <a:t>The model reasons about the schema and constructs a valid call.</a:t>
            </a:r>
          </a:p>
        </p:txBody>
      </p:sp>
    </p:spTree>
    <p:extLst>
      <p:ext uri="{BB962C8B-B14F-4D97-AF65-F5344CB8AC3E}">
        <p14:creationId xmlns:p14="http://schemas.microsoft.com/office/powerpoint/2010/main" val="3743461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0">
                <a:solidFill>
                  <a:srgbClr val="0B1F33"/>
                </a:solidFill>
                <a:latin typeface="Century Gothic"/>
              </a:rPr>
              <a:t>A tool call is JSON built from a schema</a:t>
            </a:r>
          </a:p>
        </p:txBody>
      </p:sp>
      <p:pic>
        <p:nvPicPr>
          <p:cNvPr id="4" name="Picture 3" descr="04_tool_anatomy.png"/>
          <p:cNvPicPr>
            <a:picLocks noChangeAspect="1"/>
          </p:cNvPicPr>
          <p:nvPr/>
        </p:nvPicPr>
        <p:blipFill>
          <a:blip r:embed="rId3"/>
          <a:stretch>
            <a:fillRect/>
          </a:stretch>
        </p:blipFill>
        <p:spPr>
          <a:xfrm>
            <a:off x="609447" y="1729740"/>
            <a:ext cx="10972800" cy="4267199"/>
          </a:xfrm>
          <a:prstGeom prst="rect">
            <a:avLst/>
          </a:prstGeom>
        </p:spPr>
      </p:pic>
      <p:sp>
        <p:nvSpPr>
          <p:cNvPr id="6" name="TextBox 5"/>
          <p:cNvSpPr txBox="1"/>
          <p:nvPr/>
        </p:nvSpPr>
        <p:spPr>
          <a:xfrm>
            <a:off x="402336" y="6647688"/>
            <a:ext cx="2926080" cy="274320"/>
          </a:xfrm>
          <a:prstGeom prst="rect">
            <a:avLst/>
          </a:prstGeom>
          <a:noFill/>
        </p:spPr>
        <p:txBody>
          <a:bodyPr wrap="none">
            <a:spAutoFit/>
          </a:bodyPr>
          <a:lstStyle/>
          <a:p>
            <a:r>
              <a:rPr sz="1100">
                <a:solidFill>
                  <a:srgbClr val="8A939A"/>
                </a:solidFill>
                <a:latin typeface="Century Gothic"/>
              </a:rPr>
              <a:t>Ligorio - AI Agents</a:t>
            </a:r>
          </a:p>
        </p:txBody>
      </p:sp>
      <p:sp>
        <p:nvSpPr>
          <p:cNvPr id="7" name="TextBox 6"/>
          <p:cNvSpPr txBox="1"/>
          <p:nvPr/>
        </p:nvSpPr>
        <p:spPr>
          <a:xfrm>
            <a:off x="11155680" y="256032"/>
            <a:ext cx="658368" cy="329184"/>
          </a:xfrm>
          <a:prstGeom prst="rect">
            <a:avLst/>
          </a:prstGeom>
          <a:noFill/>
        </p:spPr>
        <p:txBody>
          <a:bodyPr wrap="none">
            <a:spAutoFit/>
          </a:bodyPr>
          <a:lstStyle/>
          <a:p>
            <a:pPr algn="ctr"/>
            <a:fld id="{5F1B0A5E-3A4C-4E77-9C21-2E0B7A8F00FF}" type="slidenum">
              <a:rPr lang="en-US" sz="1350">
                <a:solidFill>
                  <a:srgbClr val="8A939A"/>
                </a:solidFill>
              </a:rPr>
              <a:t>18</a:t>
            </a:fld>
            <a:endParaRPr lang="en-US" sz="1350">
              <a:solidFill>
                <a:srgbClr val="8A939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F67D0-C561-B265-FBA5-0618D2DEC65A}"/>
              </a:ext>
            </a:extLst>
          </p:cNvPr>
          <p:cNvSpPr>
            <a:spLocks noGrp="1"/>
          </p:cNvSpPr>
          <p:nvPr>
            <p:ph type="title"/>
          </p:nvPr>
        </p:nvSpPr>
        <p:spPr>
          <a:xfrm>
            <a:off x="613454" y="136525"/>
            <a:ext cx="10515600" cy="1325563"/>
          </a:xfrm>
        </p:spPr>
        <p:txBody>
          <a:bodyPr/>
          <a:lstStyle/>
          <a:p>
            <a:r>
              <a:rPr sz="2800" b="0">
                <a:solidFill>
                  <a:srgbClr val="0B1F33"/>
                </a:solidFill>
                <a:latin typeface="Century Gothic"/>
              </a:rPr>
              <a:t>Example: a calculator tool, defined as JSON</a:t>
            </a:r>
          </a:p>
        </p:txBody>
      </p:sp>
      <p:sp>
        <p:nvSpPr>
          <p:cNvPr id="4" name="Footer Placeholder 3">
            <a:extLst>
              <a:ext uri="{FF2B5EF4-FFF2-40B4-BE49-F238E27FC236}">
                <a16:creationId xmlns:a16="http://schemas.microsoft.com/office/drawing/2014/main" id="{4C8E2798-D2C9-5058-9F08-68452C158D41}"/>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endParaRPr lang="en-US" dirty="0">
              <a:solidFill>
                <a:srgbClr val="8A939A"/>
              </a:solidFill>
            </a:endParaRPr>
          </a:p>
        </p:txBody>
      </p:sp>
      <p:sp>
        <p:nvSpPr>
          <p:cNvPr id="5" name="Slide Number Placeholder 4">
            <a:extLst>
              <a:ext uri="{FF2B5EF4-FFF2-40B4-BE49-F238E27FC236}">
                <a16:creationId xmlns:a16="http://schemas.microsoft.com/office/drawing/2014/main" id="{044956B9-12B8-169D-A0E8-CCADB1BBB36F}"/>
              </a:ext>
            </a:extLst>
          </p:cNvPr>
          <p:cNvSpPr>
            <a:spLocks noGrp="1"/>
          </p:cNvSpPr>
          <p:nvPr>
            <p:ph type="sldNum" sz="quarter" idx="12"/>
          </p:nvPr>
        </p:nvSpPr>
        <p:spPr/>
        <p:txBody>
          <a:bodyPr/>
          <a:lstStyle/>
          <a:p>
            <a:fld id="{D57F1E4F-1CFF-5643-939E-02111984F565}" type="slidenum">
              <a:rPr lang="en-US" smtClean="0">
                <a:solidFill>
                  <a:srgbClr val="8A939A"/>
                </a:solidFill>
              </a:rPr>
              <a:t>19</a:t>
            </a:fld>
            <a:endParaRPr lang="en-US" dirty="0">
              <a:solidFill>
                <a:srgbClr val="8A939A"/>
              </a:solidFill>
            </a:endParaRPr>
          </a:p>
        </p:txBody>
      </p:sp>
      <p:sp>
        <p:nvSpPr>
          <p:cNvPr id="6" name="Rounded Rectangle 5"/>
          <p:cNvSpPr/>
          <p:nvPr/>
        </p:nvSpPr>
        <p:spPr>
          <a:xfrm>
            <a:off x="1463040" y="1554480"/>
            <a:ext cx="9235440" cy="4206240"/>
          </a:xfrm>
          <a:prstGeom prst="roundRect">
            <a:avLst>
              <a:gd name="adj" fmla="val 4000"/>
            </a:avLst>
          </a:prstGeom>
          <a:solidFill>
            <a:srgbClr val="14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0" y="1783080"/>
            <a:ext cx="8503920" cy="3749039"/>
          </a:xfrm>
          <a:prstGeom prst="rect">
            <a:avLst/>
          </a:prstGeom>
          <a:noFill/>
        </p:spPr>
        <p:txBody>
          <a:bodyPr wrap="square" lIns="38100" rIns="38100" anchor="t">
            <a:spAutoFit/>
          </a:bodyPr>
          <a:lstStyle/>
          <a:p>
            <a:pPr algn="l"/>
            <a:r>
              <a:rPr sz="1500" b="0" i="0">
                <a:solidFill>
                  <a:srgbClr val="DDE7E6"/>
                </a:solidFill>
                <a:latin typeface="Consolas"/>
              </a:rPr>
              <a:t>TOOLS = {</a:t>
            </a:r>
          </a:p>
          <a:p>
            <a:pPr algn="l"/>
            <a:r>
              <a:rPr sz="1500" b="0" i="0">
                <a:solidFill>
                  <a:srgbClr val="DDE7E6"/>
                </a:solidFill>
                <a:latin typeface="Consolas"/>
              </a:rPr>
              <a:t>  "calculator": {</a:t>
            </a:r>
          </a:p>
          <a:p>
            <a:pPr algn="l"/>
            <a:r>
              <a:rPr sz="1500" b="0" i="0">
                <a:solidFill>
                  <a:srgbClr val="DDE7E6"/>
                </a:solidFill>
                <a:latin typeface="Consolas"/>
              </a:rPr>
              <a:t>    "description": "Evaluate a math expression "</a:t>
            </a:r>
          </a:p>
          <a:p>
            <a:pPr algn="l"/>
            <a:r>
              <a:rPr sz="1500" b="0" i="0">
                <a:solidFill>
                  <a:srgbClr val="DDE7E6"/>
                </a:solidFill>
                <a:latin typeface="Consolas"/>
              </a:rPr>
              <a:t>                   "(basic arithmetic only).",</a:t>
            </a:r>
          </a:p>
          <a:p>
            <a:pPr algn="l"/>
            <a:r>
              <a:rPr sz="1500" b="0" i="0">
                <a:solidFill>
                  <a:srgbClr val="DDE7E6"/>
                </a:solidFill>
                <a:latin typeface="Consolas"/>
              </a:rPr>
              <a:t>    "function": calculator,</a:t>
            </a:r>
          </a:p>
          <a:p>
            <a:pPr algn="l"/>
            <a:r>
              <a:rPr sz="1500" b="0" i="0">
                <a:solidFill>
                  <a:srgbClr val="DDE7E6"/>
                </a:solidFill>
                <a:latin typeface="Consolas"/>
              </a:rPr>
              <a:t>    "parameters": {</a:t>
            </a:r>
          </a:p>
          <a:p>
            <a:pPr algn="l"/>
            <a:r>
              <a:rPr sz="1500" b="0" i="0">
                <a:solidFill>
                  <a:srgbClr val="DDE7E6"/>
                </a:solidFill>
                <a:latin typeface="Consolas"/>
              </a:rPr>
              <a:t>      "type": "object",</a:t>
            </a:r>
          </a:p>
          <a:p>
            <a:pPr algn="l"/>
            <a:r>
              <a:rPr sz="1500" b="0" i="0">
                <a:solidFill>
                  <a:srgbClr val="DDE7E6"/>
                </a:solidFill>
                <a:latin typeface="Consolas"/>
              </a:rPr>
              <a:t>      "properties": {</a:t>
            </a:r>
          </a:p>
          <a:p>
            <a:pPr algn="l"/>
            <a:r>
              <a:rPr sz="1500" b="0" i="0">
                <a:solidFill>
                  <a:srgbClr val="DDE7E6"/>
                </a:solidFill>
                <a:latin typeface="Consolas"/>
              </a:rPr>
              <a:t>        "expression": {"type": "string"}</a:t>
            </a:r>
          </a:p>
          <a:p>
            <a:pPr algn="l"/>
            <a:r>
              <a:rPr sz="1500" b="0" i="0">
                <a:solidFill>
                  <a:srgbClr val="DDE7E6"/>
                </a:solidFill>
                <a:latin typeface="Consolas"/>
              </a:rPr>
              <a:t>      },</a:t>
            </a:r>
          </a:p>
          <a:p>
            <a:pPr algn="l"/>
            <a:r>
              <a:rPr sz="1500" b="0" i="0">
                <a:solidFill>
                  <a:srgbClr val="DDE7E6"/>
                </a:solidFill>
                <a:latin typeface="Consolas"/>
              </a:rPr>
              <a:t>      "required": ["expression"],</a:t>
            </a:r>
          </a:p>
          <a:p>
            <a:pPr algn="l"/>
            <a:r>
              <a:rPr sz="1500" b="0" i="0">
                <a:solidFill>
                  <a:srgbClr val="DDE7E6"/>
                </a:solidFill>
                <a:latin typeface="Consolas"/>
              </a:rPr>
              <a:t>    },</a:t>
            </a:r>
          </a:p>
          <a:p>
            <a:pPr algn="l"/>
            <a:r>
              <a:rPr sz="1500" b="0" i="0">
                <a:solidFill>
                  <a:srgbClr val="DDE7E6"/>
                </a:solidFill>
                <a:latin typeface="Consolas"/>
              </a:rPr>
              <a:t>  },</a:t>
            </a:r>
          </a:p>
          <a:p>
            <a:pPr algn="l"/>
            <a:r>
              <a:rPr sz="1500" b="0" i="0">
                <a:solidFill>
                  <a:srgbClr val="DDE7E6"/>
                </a:solidFill>
                <a:latin typeface="Consolas"/>
              </a:rPr>
              <a:t>}</a:t>
            </a:r>
          </a:p>
        </p:txBody>
      </p:sp>
      <p:sp>
        <p:nvSpPr>
          <p:cNvPr id="8" name="Rounded Rectangle 7"/>
          <p:cNvSpPr/>
          <p:nvPr/>
        </p:nvSpPr>
        <p:spPr>
          <a:xfrm>
            <a:off x="822960" y="5989320"/>
            <a:ext cx="10515600" cy="548640"/>
          </a:xfrm>
          <a:prstGeom prst="roundRect">
            <a:avLst>
              <a:gd name="adj" fmla="val 30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5989320"/>
            <a:ext cx="9966960" cy="548640"/>
          </a:xfrm>
          <a:prstGeom prst="rect">
            <a:avLst/>
          </a:prstGeom>
          <a:noFill/>
        </p:spPr>
        <p:txBody>
          <a:bodyPr wrap="square" lIns="38100" rIns="38100" anchor="ctr">
            <a:spAutoFit/>
          </a:bodyPr>
          <a:lstStyle/>
          <a:p>
            <a:pPr algn="l"/>
            <a:r>
              <a:rPr sz="1500" b="1" i="1">
                <a:solidFill>
                  <a:srgbClr val="1E5155"/>
                </a:solidFill>
                <a:latin typeface="Century Gothic"/>
              </a:rPr>
              <a:t>Description + parameters are what the model reads to build the call.</a:t>
            </a:r>
          </a:p>
        </p:txBody>
      </p:sp>
    </p:spTree>
    <p:extLst>
      <p:ext uri="{BB962C8B-B14F-4D97-AF65-F5344CB8AC3E}">
        <p14:creationId xmlns:p14="http://schemas.microsoft.com/office/powerpoint/2010/main" val="3302668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7C942-83DD-A00C-11DD-4B87FDD9A5BB}"/>
              </a:ext>
            </a:extLst>
          </p:cNvPr>
          <p:cNvSpPr>
            <a:spLocks noGrp="1"/>
          </p:cNvSpPr>
          <p:nvPr>
            <p:ph type="title"/>
          </p:nvPr>
        </p:nvSpPr>
        <p:spPr>
          <a:xfrm>
            <a:off x="645131" y="266700"/>
            <a:ext cx="10515600" cy="1325563"/>
          </a:xfrm>
        </p:spPr>
        <p:txBody>
          <a:bodyPr/>
          <a:lstStyle/>
          <a:p>
            <a:r>
              <a:rPr sz="2800" b="0">
                <a:solidFill>
                  <a:srgbClr val="0B1F33"/>
                </a:solidFill>
                <a:latin typeface="Century Gothic"/>
              </a:rPr>
              <a:t>Descriptions say when; parameters say how</a:t>
            </a:r>
          </a:p>
        </p:txBody>
      </p:sp>
      <p:sp>
        <p:nvSpPr>
          <p:cNvPr id="4" name="Footer Placeholder 3">
            <a:extLst>
              <a:ext uri="{FF2B5EF4-FFF2-40B4-BE49-F238E27FC236}">
                <a16:creationId xmlns:a16="http://schemas.microsoft.com/office/drawing/2014/main" id="{0BD6752A-940A-40D0-B7A0-5CE31F0FC352}"/>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endParaRPr lang="en-US" dirty="0">
              <a:solidFill>
                <a:srgbClr val="8A939A"/>
              </a:solidFill>
            </a:endParaRPr>
          </a:p>
        </p:txBody>
      </p:sp>
      <p:sp>
        <p:nvSpPr>
          <p:cNvPr id="5" name="Slide Number Placeholder 4">
            <a:extLst>
              <a:ext uri="{FF2B5EF4-FFF2-40B4-BE49-F238E27FC236}">
                <a16:creationId xmlns:a16="http://schemas.microsoft.com/office/drawing/2014/main" id="{4CE72A66-F451-27AF-376A-79EB04183AE6}"/>
              </a:ext>
            </a:extLst>
          </p:cNvPr>
          <p:cNvSpPr>
            <a:spLocks noGrp="1"/>
          </p:cNvSpPr>
          <p:nvPr>
            <p:ph type="sldNum" sz="quarter" idx="12"/>
          </p:nvPr>
        </p:nvSpPr>
        <p:spPr/>
        <p:txBody>
          <a:bodyPr/>
          <a:lstStyle/>
          <a:p>
            <a:fld id="{D57F1E4F-1CFF-5643-939E-02111984F565}" type="slidenum">
              <a:rPr lang="en-US" smtClean="0">
                <a:solidFill>
                  <a:srgbClr val="8A939A"/>
                </a:solidFill>
              </a:rPr>
              <a:t>20</a:t>
            </a:fld>
            <a:endParaRPr lang="en-US" dirty="0">
              <a:solidFill>
                <a:srgbClr val="8A939A"/>
              </a:solidFill>
            </a:endParaRPr>
          </a:p>
        </p:txBody>
      </p:sp>
      <p:sp>
        <p:nvSpPr>
          <p:cNvPr id="6" name="Rounded Rectangle 5"/>
          <p:cNvSpPr/>
          <p:nvPr/>
        </p:nvSpPr>
        <p:spPr>
          <a:xfrm>
            <a:off x="822960" y="1554480"/>
            <a:ext cx="10515600" cy="128016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1554480"/>
            <a:ext cx="3383280" cy="1280160"/>
          </a:xfrm>
          <a:prstGeom prst="rect">
            <a:avLst/>
          </a:prstGeom>
          <a:noFill/>
        </p:spPr>
        <p:txBody>
          <a:bodyPr wrap="square" lIns="38100" rIns="38100" anchor="ctr">
            <a:spAutoFit/>
          </a:bodyPr>
          <a:lstStyle/>
          <a:p>
            <a:pPr algn="l"/>
            <a:r>
              <a:rPr sz="1900" b="1" i="0">
                <a:solidFill>
                  <a:srgbClr val="1E5155"/>
                </a:solidFill>
                <a:latin typeface="Century Gothic"/>
              </a:rPr>
              <a:t>Top-level object</a:t>
            </a:r>
          </a:p>
        </p:txBody>
      </p:sp>
      <p:sp>
        <p:nvSpPr>
          <p:cNvPr id="8" name="TextBox 7"/>
          <p:cNvSpPr txBox="1"/>
          <p:nvPr/>
        </p:nvSpPr>
        <p:spPr>
          <a:xfrm>
            <a:off x="4617720" y="1554480"/>
            <a:ext cx="6446520" cy="1280160"/>
          </a:xfrm>
          <a:prstGeom prst="rect">
            <a:avLst/>
          </a:prstGeom>
          <a:noFill/>
        </p:spPr>
        <p:txBody>
          <a:bodyPr wrap="square" lIns="38100" rIns="38100" anchor="ctr">
            <a:spAutoFit/>
          </a:bodyPr>
          <a:lstStyle/>
          <a:p>
            <a:pPr algn="l"/>
            <a:r>
              <a:rPr sz="1600" b="0" i="0">
                <a:solidFill>
                  <a:srgbClr val="2A2A2A"/>
                </a:solidFill>
                <a:latin typeface="Century Gothic"/>
              </a:rPr>
              <a:t>what the tool is for, and when the model should use it</a:t>
            </a:r>
          </a:p>
        </p:txBody>
      </p:sp>
      <p:sp>
        <p:nvSpPr>
          <p:cNvPr id="9" name="Rounded Rectangle 8"/>
          <p:cNvSpPr/>
          <p:nvPr/>
        </p:nvSpPr>
        <p:spPr>
          <a:xfrm>
            <a:off x="822960" y="3063240"/>
            <a:ext cx="10515600" cy="128016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3063240"/>
            <a:ext cx="3383280" cy="1280160"/>
          </a:xfrm>
          <a:prstGeom prst="rect">
            <a:avLst/>
          </a:prstGeom>
          <a:noFill/>
        </p:spPr>
        <p:txBody>
          <a:bodyPr wrap="square" lIns="38100" rIns="38100" anchor="ctr">
            <a:spAutoFit/>
          </a:bodyPr>
          <a:lstStyle/>
          <a:p>
            <a:pPr algn="l"/>
            <a:r>
              <a:rPr sz="1900" b="1" i="0">
                <a:solidFill>
                  <a:srgbClr val="1E5155"/>
                </a:solidFill>
                <a:latin typeface="Century Gothic"/>
              </a:rPr>
              <a:t>parameters</a:t>
            </a:r>
          </a:p>
        </p:txBody>
      </p:sp>
      <p:sp>
        <p:nvSpPr>
          <p:cNvPr id="11" name="TextBox 10"/>
          <p:cNvSpPr txBox="1"/>
          <p:nvPr/>
        </p:nvSpPr>
        <p:spPr>
          <a:xfrm>
            <a:off x="4617720" y="3063240"/>
            <a:ext cx="6446520" cy="1280160"/>
          </a:xfrm>
          <a:prstGeom prst="rect">
            <a:avLst/>
          </a:prstGeom>
          <a:noFill/>
        </p:spPr>
        <p:txBody>
          <a:bodyPr wrap="square" lIns="38100" rIns="38100" anchor="ctr">
            <a:spAutoFit/>
          </a:bodyPr>
          <a:lstStyle/>
          <a:p>
            <a:pPr algn="l"/>
            <a:r>
              <a:rPr sz="1600" b="0" i="0">
                <a:solidFill>
                  <a:srgbClr val="2A2A2A"/>
                </a:solidFill>
                <a:latin typeface="Century Gothic"/>
              </a:rPr>
              <a:t>the exact argument object the model must construct</a:t>
            </a:r>
          </a:p>
        </p:txBody>
      </p:sp>
      <p:sp>
        <p:nvSpPr>
          <p:cNvPr id="12" name="Rounded Rectangle 11"/>
          <p:cNvSpPr/>
          <p:nvPr/>
        </p:nvSpPr>
        <p:spPr>
          <a:xfrm>
            <a:off x="822960" y="5989320"/>
            <a:ext cx="10515600" cy="548640"/>
          </a:xfrm>
          <a:prstGeom prst="roundRect">
            <a:avLst>
              <a:gd name="adj" fmla="val 30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5989320"/>
            <a:ext cx="9966960" cy="548640"/>
          </a:xfrm>
          <a:prstGeom prst="rect">
            <a:avLst/>
          </a:prstGeom>
          <a:noFill/>
        </p:spPr>
        <p:txBody>
          <a:bodyPr wrap="square" lIns="38100" rIns="38100" anchor="ctr">
            <a:spAutoFit/>
          </a:bodyPr>
          <a:lstStyle/>
          <a:p>
            <a:pPr algn="l"/>
            <a:r>
              <a:rPr sz="1500" b="1" i="1">
                <a:solidFill>
                  <a:srgbClr val="1E5155"/>
                </a:solidFill>
                <a:latin typeface="Century Gothic"/>
              </a:rPr>
              <a:t>Write descriptions for the model to read — clarity drives correct tool use.</a:t>
            </a:r>
          </a:p>
        </p:txBody>
      </p:sp>
    </p:spTree>
    <p:extLst>
      <p:ext uri="{BB962C8B-B14F-4D97-AF65-F5344CB8AC3E}">
        <p14:creationId xmlns:p14="http://schemas.microsoft.com/office/powerpoint/2010/main" val="2967600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5C50-8D44-804F-CFDA-3763A9D0BA41}"/>
              </a:ext>
            </a:extLst>
          </p:cNvPr>
          <p:cNvSpPr>
            <a:spLocks noGrp="1"/>
          </p:cNvSpPr>
          <p:nvPr>
            <p:ph type="title"/>
          </p:nvPr>
        </p:nvSpPr>
        <p:spPr>
          <a:xfrm>
            <a:off x="525324" y="376238"/>
            <a:ext cx="10515600" cy="1325563"/>
          </a:xfrm>
        </p:spPr>
        <p:txBody>
          <a:bodyPr/>
          <a:lstStyle/>
          <a:p>
            <a:r>
              <a:rPr sz="2800" b="0">
                <a:solidFill>
                  <a:srgbClr val="0B1F33"/>
                </a:solidFill>
                <a:latin typeface="Century Gothic"/>
              </a:rPr>
              <a:t>Code tutorial: building a ReAct agent</a:t>
            </a:r>
          </a:p>
        </p:txBody>
      </p:sp>
      <p:sp>
        <p:nvSpPr>
          <p:cNvPr id="4" name="Footer Placeholder 3">
            <a:extLst>
              <a:ext uri="{FF2B5EF4-FFF2-40B4-BE49-F238E27FC236}">
                <a16:creationId xmlns:a16="http://schemas.microsoft.com/office/drawing/2014/main" id="{EAF39710-4FC8-12DF-B749-E5C1A6EDE5B0}"/>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endParaRPr lang="en-US" dirty="0">
              <a:solidFill>
                <a:srgbClr val="8A939A"/>
              </a:solidFill>
            </a:endParaRPr>
          </a:p>
        </p:txBody>
      </p:sp>
      <p:sp>
        <p:nvSpPr>
          <p:cNvPr id="5" name="Slide Number Placeholder 4">
            <a:extLst>
              <a:ext uri="{FF2B5EF4-FFF2-40B4-BE49-F238E27FC236}">
                <a16:creationId xmlns:a16="http://schemas.microsoft.com/office/drawing/2014/main" id="{A5D7FDD2-70D4-9E30-6C8F-4209D2522A98}"/>
              </a:ext>
            </a:extLst>
          </p:cNvPr>
          <p:cNvSpPr>
            <a:spLocks noGrp="1"/>
          </p:cNvSpPr>
          <p:nvPr>
            <p:ph type="sldNum" sz="quarter" idx="12"/>
          </p:nvPr>
        </p:nvSpPr>
        <p:spPr/>
        <p:txBody>
          <a:bodyPr/>
          <a:lstStyle/>
          <a:p>
            <a:fld id="{D57F1E4F-1CFF-5643-939E-02111984F565}" type="slidenum">
              <a:rPr lang="en-US" smtClean="0">
                <a:solidFill>
                  <a:srgbClr val="8A939A"/>
                </a:solidFill>
              </a:rPr>
              <a:t>21</a:t>
            </a:fld>
            <a:endParaRPr lang="en-US" dirty="0">
              <a:solidFill>
                <a:srgbClr val="8A939A"/>
              </a:solidFill>
            </a:endParaRPr>
          </a:p>
        </p:txBody>
      </p:sp>
      <p:sp>
        <p:nvSpPr>
          <p:cNvPr id="6" name="Rounded Rectangle 5"/>
          <p:cNvSpPr/>
          <p:nvPr/>
        </p:nvSpPr>
        <p:spPr>
          <a:xfrm>
            <a:off x="4023360" y="2743200"/>
            <a:ext cx="4114800" cy="1097280"/>
          </a:xfrm>
          <a:prstGeom prst="roundRect">
            <a:avLst>
              <a:gd name="adj" fmla="val 30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023360" y="2743200"/>
            <a:ext cx="4114800" cy="1097280"/>
          </a:xfrm>
          <a:prstGeom prst="rect">
            <a:avLst/>
          </a:prstGeom>
          <a:noFill/>
        </p:spPr>
        <p:txBody>
          <a:bodyPr wrap="square" lIns="38100" rIns="38100" anchor="ctr">
            <a:spAutoFit/>
          </a:bodyPr>
          <a:lstStyle/>
          <a:p>
            <a:pPr algn="ctr"/>
            <a:r>
              <a:rPr sz="2200" b="1" i="0">
                <a:solidFill>
                  <a:srgbClr val="1E5155"/>
                </a:solidFill>
                <a:latin typeface="Century Gothic"/>
              </a:rPr>
              <a:t>Live demo</a:t>
            </a:r>
          </a:p>
        </p:txBody>
      </p:sp>
    </p:spTree>
    <p:extLst>
      <p:ext uri="{BB962C8B-B14F-4D97-AF65-F5344CB8AC3E}">
        <p14:creationId xmlns:p14="http://schemas.microsoft.com/office/powerpoint/2010/main" val="1708466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91827-CFCE-9244-53A0-60DF54B5A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DF4D1-4C02-DC9F-B27C-9140C743A2A5}"/>
              </a:ext>
            </a:extLst>
          </p:cNvPr>
          <p:cNvSpPr>
            <a:spLocks noGrp="1"/>
          </p:cNvSpPr>
          <p:nvPr>
            <p:ph type="title"/>
          </p:nvPr>
        </p:nvSpPr>
        <p:spPr>
          <a:xfrm>
            <a:off x="646112" y="309142"/>
            <a:ext cx="10515600" cy="1325563"/>
          </a:xfrm>
        </p:spPr>
        <p:txBody>
          <a:bodyPr/>
          <a:lstStyle/>
          <a:p>
            <a:r>
              <a:rPr sz="2800" b="0">
                <a:solidFill>
                  <a:srgbClr val="0B1F33"/>
                </a:solidFill>
                <a:latin typeface="Century Gothic"/>
              </a:rPr>
              <a:t>Three ways to give an agent tools</a:t>
            </a:r>
          </a:p>
        </p:txBody>
      </p:sp>
      <p:sp>
        <p:nvSpPr>
          <p:cNvPr id="4" name="Footer Placeholder 3">
            <a:extLst>
              <a:ext uri="{FF2B5EF4-FFF2-40B4-BE49-F238E27FC236}">
                <a16:creationId xmlns:a16="http://schemas.microsoft.com/office/drawing/2014/main" id="{F62F95A6-91D1-E271-04E3-A9954944D661}"/>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endParaRPr lang="en-US" dirty="0">
              <a:solidFill>
                <a:srgbClr val="8A939A"/>
              </a:solidFill>
            </a:endParaRPr>
          </a:p>
        </p:txBody>
      </p:sp>
      <p:sp>
        <p:nvSpPr>
          <p:cNvPr id="5" name="Slide Number Placeholder 4">
            <a:extLst>
              <a:ext uri="{FF2B5EF4-FFF2-40B4-BE49-F238E27FC236}">
                <a16:creationId xmlns:a16="http://schemas.microsoft.com/office/drawing/2014/main" id="{189EE39E-56A4-7706-BC8F-5B499D53F6CF}"/>
              </a:ext>
            </a:extLst>
          </p:cNvPr>
          <p:cNvSpPr>
            <a:spLocks noGrp="1"/>
          </p:cNvSpPr>
          <p:nvPr>
            <p:ph type="sldNum" sz="quarter" idx="12"/>
          </p:nvPr>
        </p:nvSpPr>
        <p:spPr/>
        <p:txBody>
          <a:bodyPr/>
          <a:lstStyle/>
          <a:p>
            <a:fld id="{D57F1E4F-1CFF-5643-939E-02111984F565}" type="slidenum">
              <a:rPr lang="en-US" smtClean="0">
                <a:solidFill>
                  <a:srgbClr val="8A939A"/>
                </a:solidFill>
              </a:rPr>
              <a:t>22</a:t>
            </a:fld>
            <a:endParaRPr lang="en-US" dirty="0">
              <a:solidFill>
                <a:srgbClr val="8A939A"/>
              </a:solidFill>
            </a:endParaRPr>
          </a:p>
        </p:txBody>
      </p:sp>
      <p:sp>
        <p:nvSpPr>
          <p:cNvPr id="11" name="Rounded Rectangle 10"/>
          <p:cNvSpPr/>
          <p:nvPr/>
        </p:nvSpPr>
        <p:spPr>
          <a:xfrm>
            <a:off x="822960" y="141732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141732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Custom tools</a:t>
            </a:r>
          </a:p>
        </p:txBody>
      </p:sp>
      <p:sp>
        <p:nvSpPr>
          <p:cNvPr id="13" name="TextBox 12"/>
          <p:cNvSpPr txBox="1"/>
          <p:nvPr/>
        </p:nvSpPr>
        <p:spPr>
          <a:xfrm>
            <a:off x="4617720" y="141732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you write the functions; the agent calls them directly</a:t>
            </a:r>
          </a:p>
        </p:txBody>
      </p:sp>
      <p:sp>
        <p:nvSpPr>
          <p:cNvPr id="14" name="Rounded Rectangle 13"/>
          <p:cNvSpPr/>
          <p:nvPr/>
        </p:nvSpPr>
        <p:spPr>
          <a:xfrm>
            <a:off x="822960" y="246888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246888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Framework integrations</a:t>
            </a:r>
          </a:p>
        </p:txBody>
      </p:sp>
      <p:sp>
        <p:nvSpPr>
          <p:cNvPr id="16" name="TextBox 15"/>
          <p:cNvSpPr txBox="1"/>
          <p:nvPr/>
        </p:nvSpPr>
        <p:spPr>
          <a:xfrm>
            <a:off x="4617720" y="246888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LangChain, LlamaIndex, ... ship ready-made wrappers</a:t>
            </a:r>
          </a:p>
        </p:txBody>
      </p:sp>
      <p:sp>
        <p:nvSpPr>
          <p:cNvPr id="17" name="Rounded Rectangle 16"/>
          <p:cNvSpPr/>
          <p:nvPr/>
        </p:nvSpPr>
        <p:spPr>
          <a:xfrm>
            <a:off x="822960" y="352044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43000" y="352044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MCP</a:t>
            </a:r>
          </a:p>
        </p:txBody>
      </p:sp>
      <p:sp>
        <p:nvSpPr>
          <p:cNvPr id="19" name="TextBox 18"/>
          <p:cNvSpPr txBox="1"/>
          <p:nvPr/>
        </p:nvSpPr>
        <p:spPr>
          <a:xfrm>
            <a:off x="4617720" y="352044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an open protocol so any client can use any server's tools</a:t>
            </a:r>
          </a:p>
        </p:txBody>
      </p:sp>
      <p:sp>
        <p:nvSpPr>
          <p:cNvPr id="20" name="Rounded Rectangle 19"/>
          <p:cNvSpPr/>
          <p:nvPr/>
        </p:nvSpPr>
        <p:spPr>
          <a:xfrm>
            <a:off x="822960" y="5989320"/>
            <a:ext cx="10515600" cy="548640"/>
          </a:xfrm>
          <a:prstGeom prst="roundRect">
            <a:avLst>
              <a:gd name="adj" fmla="val 30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97280" y="5989320"/>
            <a:ext cx="9966960" cy="548640"/>
          </a:xfrm>
          <a:prstGeom prst="rect">
            <a:avLst/>
          </a:prstGeom>
          <a:noFill/>
        </p:spPr>
        <p:txBody>
          <a:bodyPr wrap="square" lIns="38100" rIns="38100" anchor="ctr">
            <a:spAutoFit/>
          </a:bodyPr>
          <a:lstStyle/>
          <a:p>
            <a:pPr algn="l"/>
            <a:r>
              <a:rPr sz="1500" b="1" i="1">
                <a:solidFill>
                  <a:srgbClr val="1E5155"/>
                </a:solidFill>
                <a:latin typeface="Century Gothic"/>
              </a:rPr>
              <a:t>Same idea underneath: describe a tool, let the model decide when to call it.</a:t>
            </a:r>
          </a:p>
        </p:txBody>
      </p:sp>
    </p:spTree>
    <p:extLst>
      <p:ext uri="{BB962C8B-B14F-4D97-AF65-F5344CB8AC3E}">
        <p14:creationId xmlns:p14="http://schemas.microsoft.com/office/powerpoint/2010/main" val="932471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A5BDE-BE6C-A4CD-AF18-4FAD9BACAD68}"/>
              </a:ext>
            </a:extLst>
          </p:cNvPr>
          <p:cNvSpPr>
            <a:spLocks noGrp="1"/>
          </p:cNvSpPr>
          <p:nvPr>
            <p:ph type="title"/>
          </p:nvPr>
        </p:nvSpPr>
        <p:spPr>
          <a:xfrm>
            <a:off x="561597" y="325489"/>
            <a:ext cx="10515600" cy="1325563"/>
          </a:xfrm>
        </p:spPr>
        <p:txBody>
          <a:bodyPr/>
          <a:lstStyle/>
          <a:p>
            <a:r>
              <a:rPr sz="2800" b="0">
                <a:solidFill>
                  <a:srgbClr val="0B1F33"/>
                </a:solidFill>
                <a:latin typeface="Century Gothic"/>
              </a:rPr>
              <a:t>MCP is a shared standard for connecting tools</a:t>
            </a:r>
          </a:p>
        </p:txBody>
      </p:sp>
      <p:sp>
        <p:nvSpPr>
          <p:cNvPr id="4" name="Footer Placeholder 3">
            <a:extLst>
              <a:ext uri="{FF2B5EF4-FFF2-40B4-BE49-F238E27FC236}">
                <a16:creationId xmlns:a16="http://schemas.microsoft.com/office/drawing/2014/main" id="{80BD3F08-8E2D-7215-75A7-ECC0D6A9FADC}"/>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p>
        </p:txBody>
      </p:sp>
      <p:sp>
        <p:nvSpPr>
          <p:cNvPr id="5" name="Slide Number Placeholder 4">
            <a:extLst>
              <a:ext uri="{FF2B5EF4-FFF2-40B4-BE49-F238E27FC236}">
                <a16:creationId xmlns:a16="http://schemas.microsoft.com/office/drawing/2014/main" id="{2F69CE91-A3EF-0BD6-7368-19CCBF95BEE1}"/>
              </a:ext>
            </a:extLst>
          </p:cNvPr>
          <p:cNvSpPr>
            <a:spLocks noGrp="1"/>
          </p:cNvSpPr>
          <p:nvPr>
            <p:ph type="sldNum" sz="quarter" idx="12"/>
          </p:nvPr>
        </p:nvSpPr>
        <p:spPr/>
        <p:txBody>
          <a:bodyPr/>
          <a:lstStyle/>
          <a:p>
            <a:fld id="{D57F1E4F-1CFF-5643-939E-02111984F565}" type="slidenum">
              <a:rPr lang="en-US" smtClean="0">
                <a:solidFill>
                  <a:srgbClr val="8A939A"/>
                </a:solidFill>
              </a:rPr>
              <a:t>23</a:t>
            </a:fld>
            <a:endParaRPr lang="en-US">
              <a:solidFill>
                <a:srgbClr val="8A939A"/>
              </a:solidFill>
            </a:endParaRPr>
          </a:p>
        </p:txBody>
      </p:sp>
      <p:pic>
        <p:nvPicPr>
          <p:cNvPr id="7" name="Picture 6" descr="A diagram of many custom tool wrappers between multiple agents and tools">
            <a:extLst>
              <a:ext uri="{FF2B5EF4-FFF2-40B4-BE49-F238E27FC236}">
                <a16:creationId xmlns:a16="http://schemas.microsoft.com/office/drawing/2014/main" id="{4D0B6331-4D90-3237-ABC8-8ECB8EBA53D1}"/>
              </a:ext>
            </a:extLst>
          </p:cNvPr>
          <p:cNvPicPr>
            <a:picLocks noChangeAspect="1"/>
          </p:cNvPicPr>
          <p:nvPr/>
        </p:nvPicPr>
        <p:blipFill>
          <a:blip r:embed="rId3"/>
          <a:stretch>
            <a:fillRect/>
          </a:stretch>
        </p:blipFill>
        <p:spPr>
          <a:xfrm>
            <a:off x="609447" y="1908145"/>
            <a:ext cx="3474720" cy="3910388"/>
          </a:xfrm>
          <a:prstGeom prst="rect">
            <a:avLst/>
          </a:prstGeom>
        </p:spPr>
      </p:pic>
      <p:pic>
        <p:nvPicPr>
          <p:cNvPr id="9" name="Picture 8" descr="A diagram of multipel agents connecting to multiple tools via a single (one per tool) connection">
            <a:extLst>
              <a:ext uri="{FF2B5EF4-FFF2-40B4-BE49-F238E27FC236}">
                <a16:creationId xmlns:a16="http://schemas.microsoft.com/office/drawing/2014/main" id="{516279F2-0AF8-F819-649D-0A868184E4FA}"/>
              </a:ext>
            </a:extLst>
          </p:cNvPr>
          <p:cNvPicPr>
            <a:picLocks noChangeAspect="1"/>
          </p:cNvPicPr>
          <p:nvPr/>
        </p:nvPicPr>
        <p:blipFill>
          <a:blip r:embed="rId4"/>
          <a:stretch>
            <a:fillRect/>
          </a:stretch>
        </p:blipFill>
        <p:spPr>
          <a:xfrm>
            <a:off x="4358487" y="2039366"/>
            <a:ext cx="3474720" cy="3647946"/>
          </a:xfrm>
          <a:prstGeom prst="rect">
            <a:avLst/>
          </a:prstGeom>
        </p:spPr>
      </p:pic>
      <p:sp>
        <p:nvSpPr>
          <p:cNvPr id="12" name="TextBox 11">
            <a:extLst>
              <a:ext uri="{FF2B5EF4-FFF2-40B4-BE49-F238E27FC236}">
                <a16:creationId xmlns:a16="http://schemas.microsoft.com/office/drawing/2014/main" id="{5DEC75F6-A944-203D-08D5-DDE8CB0B8756}"/>
              </a:ext>
            </a:extLst>
          </p:cNvPr>
          <p:cNvSpPr txBox="1"/>
          <p:nvPr/>
        </p:nvSpPr>
        <p:spPr>
          <a:xfrm>
            <a:off x="3561256" y="6427758"/>
            <a:ext cx="815736" cy="369332"/>
          </a:xfrm>
          <a:prstGeom prst="rect">
            <a:avLst/>
          </a:prstGeom>
          <a:noFill/>
        </p:spPr>
        <p:txBody>
          <a:bodyPr wrap="none" rtlCol="0">
            <a:spAutoFit/>
          </a:bodyPr>
          <a:lstStyle/>
          <a:p>
            <a:r>
              <a:rPr lang="en-IT" dirty="0"/>
              <a:t>Clients</a:t>
            </a:r>
          </a:p>
        </p:txBody>
      </p:sp>
      <p:sp>
        <p:nvSpPr>
          <p:cNvPr id="13" name="TextBox 12">
            <a:extLst>
              <a:ext uri="{FF2B5EF4-FFF2-40B4-BE49-F238E27FC236}">
                <a16:creationId xmlns:a16="http://schemas.microsoft.com/office/drawing/2014/main" id="{2A8A77FF-E953-5F41-442D-690025AD8FC6}"/>
              </a:ext>
            </a:extLst>
          </p:cNvPr>
          <p:cNvSpPr txBox="1"/>
          <p:nvPr/>
        </p:nvSpPr>
        <p:spPr>
          <a:xfrm>
            <a:off x="5053803" y="6427758"/>
            <a:ext cx="1347548" cy="369332"/>
          </a:xfrm>
          <a:prstGeom prst="rect">
            <a:avLst/>
          </a:prstGeom>
          <a:noFill/>
        </p:spPr>
        <p:txBody>
          <a:bodyPr wrap="none" rtlCol="0">
            <a:spAutoFit/>
          </a:bodyPr>
          <a:lstStyle/>
          <a:p>
            <a:r>
              <a:rPr lang="en-IT" dirty="0"/>
              <a:t>MCP servers</a:t>
            </a:r>
          </a:p>
        </p:txBody>
      </p:sp>
      <p:sp>
        <p:nvSpPr>
          <p:cNvPr id="14" name="TextBox 13">
            <a:extLst>
              <a:ext uri="{FF2B5EF4-FFF2-40B4-BE49-F238E27FC236}">
                <a16:creationId xmlns:a16="http://schemas.microsoft.com/office/drawing/2014/main" id="{2E6F29FE-CFB1-E423-0CE4-B61EE8A6206F}"/>
              </a:ext>
            </a:extLst>
          </p:cNvPr>
          <p:cNvSpPr txBox="1"/>
          <p:nvPr/>
        </p:nvSpPr>
        <p:spPr>
          <a:xfrm>
            <a:off x="1001668" y="6321723"/>
            <a:ext cx="1333507" cy="369332"/>
          </a:xfrm>
          <a:prstGeom prst="rect">
            <a:avLst/>
          </a:prstGeom>
          <a:noFill/>
        </p:spPr>
        <p:txBody>
          <a:bodyPr wrap="none" rtlCol="0">
            <a:spAutoFit/>
          </a:bodyPr>
          <a:lstStyle/>
          <a:p>
            <a:r>
              <a:rPr lang="en-IT" dirty="0"/>
              <a:t>No standard</a:t>
            </a:r>
          </a:p>
        </p:txBody>
      </p:sp>
      <p:pic>
        <p:nvPicPr>
          <p:cNvPr id="16" name="Picture 15" descr="Image metaphore of mcp as usb">
            <a:extLst>
              <a:ext uri="{FF2B5EF4-FFF2-40B4-BE49-F238E27FC236}">
                <a16:creationId xmlns:a16="http://schemas.microsoft.com/office/drawing/2014/main" id="{6AF580A3-9916-1910-9494-201EFAA844C7}"/>
              </a:ext>
            </a:extLst>
          </p:cNvPr>
          <p:cNvPicPr>
            <a:picLocks noChangeAspect="1"/>
          </p:cNvPicPr>
          <p:nvPr/>
        </p:nvPicPr>
        <p:blipFill>
          <a:blip r:embed="rId5"/>
          <a:stretch>
            <a:fillRect/>
          </a:stretch>
        </p:blipFill>
        <p:spPr>
          <a:xfrm>
            <a:off x="8107527" y="2886075"/>
            <a:ext cx="3474720" cy="1954529"/>
          </a:xfrm>
          <a:prstGeom prst="rect">
            <a:avLst/>
          </a:prstGeom>
        </p:spPr>
      </p:pic>
      <p:sp>
        <p:nvSpPr>
          <p:cNvPr id="17" name="TextBox 16">
            <a:extLst>
              <a:ext uri="{FF2B5EF4-FFF2-40B4-BE49-F238E27FC236}">
                <a16:creationId xmlns:a16="http://schemas.microsoft.com/office/drawing/2014/main" id="{CE166C1D-C333-07AD-9C6A-4473AE24D75B}"/>
              </a:ext>
            </a:extLst>
          </p:cNvPr>
          <p:cNvSpPr txBox="1"/>
          <p:nvPr/>
        </p:nvSpPr>
        <p:spPr>
          <a:xfrm>
            <a:off x="8166198" y="6528982"/>
            <a:ext cx="2388218" cy="307777"/>
          </a:xfrm>
          <a:prstGeom prst="rect">
            <a:avLst/>
          </a:prstGeom>
          <a:noFill/>
        </p:spPr>
        <p:txBody>
          <a:bodyPr wrap="none" rtlCol="0">
            <a:spAutoFit/>
          </a:bodyPr>
          <a:lstStyle/>
          <a:p>
            <a:r>
              <a:rPr lang="en-GB" sz="1400" dirty="0">
                <a:latin typeface="Century Gothic" panose="020B0503020202020204" pitchFamily="34" charset="0"/>
              </a:rPr>
              <a:t>Source:</a:t>
            </a:r>
            <a:r>
              <a:rPr lang="en-GB" sz="1400" dirty="0">
                <a:solidFill>
                  <a:srgbClr val="58C1BA"/>
                </a:solidFill>
                <a:latin typeface="Century Gothic" panose="020B0503020202020204" pitchFamily="34" charset="0"/>
                <a:hlinkClick r:id="rId6">
                  <a:extLst>
                    <a:ext uri="{A12FA001-AC4F-418D-AE19-62706E023703}">
                      <ahyp:hlinkClr xmlns:ahyp="http://schemas.microsoft.com/office/drawing/2018/hyperlinkcolor" val="tx"/>
                    </a:ext>
                  </a:extLst>
                </a:hlinkClick>
              </a:rPr>
              <a:t> </a:t>
            </a:r>
            <a:r>
              <a:rPr lang="en-GB" sz="1400" u="sng" dirty="0">
                <a:latin typeface="Century Gothic" panose="020B0503020202020204" pitchFamily="34" charset="0"/>
                <a:hlinkClick r:id="rId6">
                  <a:extLst>
                    <a:ext uri="{A12FA001-AC4F-418D-AE19-62706E023703}">
                      <ahyp:hlinkClr xmlns:ahyp="http://schemas.microsoft.com/office/drawing/2018/hyperlinkcolor" val="tx"/>
                    </a:ext>
                  </a:extLst>
                </a:hlinkClick>
              </a:rPr>
              <a:t>Norah Sakal's Blog</a:t>
            </a:r>
            <a:endParaRPr lang="en-IT" sz="1400" dirty="0">
              <a:latin typeface="Century Gothic" panose="020B0503020202020204" pitchFamily="34" charset="0"/>
            </a:endParaRPr>
          </a:p>
        </p:txBody>
      </p:sp>
    </p:spTree>
    <p:extLst>
      <p:ext uri="{BB962C8B-B14F-4D97-AF65-F5344CB8AC3E}">
        <p14:creationId xmlns:p14="http://schemas.microsoft.com/office/powerpoint/2010/main" val="687978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9C89C-FE1B-53DD-A7C6-5AEA9A029A52}"/>
              </a:ext>
            </a:extLst>
          </p:cNvPr>
          <p:cNvSpPr>
            <a:spLocks noGrp="1"/>
          </p:cNvSpPr>
          <p:nvPr>
            <p:ph type="title"/>
          </p:nvPr>
        </p:nvSpPr>
        <p:spPr>
          <a:xfrm>
            <a:off x="645132" y="234297"/>
            <a:ext cx="10515600" cy="1325563"/>
          </a:xfrm>
        </p:spPr>
        <p:txBody>
          <a:bodyPr/>
          <a:lstStyle/>
          <a:p>
            <a:r>
              <a:rPr sz="2800" b="0">
                <a:solidFill>
                  <a:srgbClr val="0B1F33"/>
                </a:solidFill>
                <a:latin typeface="Century Gothic"/>
              </a:rPr>
              <a:t>MCP exposes tools, resources, and prompts</a:t>
            </a:r>
          </a:p>
        </p:txBody>
      </p:sp>
      <p:sp>
        <p:nvSpPr>
          <p:cNvPr id="4" name="Footer Placeholder 3">
            <a:extLst>
              <a:ext uri="{FF2B5EF4-FFF2-40B4-BE49-F238E27FC236}">
                <a16:creationId xmlns:a16="http://schemas.microsoft.com/office/drawing/2014/main" id="{CA8DB52E-2464-EB15-59AE-F2F5E6AAC49F}"/>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p>
        </p:txBody>
      </p:sp>
      <p:sp>
        <p:nvSpPr>
          <p:cNvPr id="5" name="Slide Number Placeholder 4">
            <a:extLst>
              <a:ext uri="{FF2B5EF4-FFF2-40B4-BE49-F238E27FC236}">
                <a16:creationId xmlns:a16="http://schemas.microsoft.com/office/drawing/2014/main" id="{7A9C2724-669B-0673-AD0D-3E2104F29E85}"/>
              </a:ext>
            </a:extLst>
          </p:cNvPr>
          <p:cNvSpPr>
            <a:spLocks noGrp="1"/>
          </p:cNvSpPr>
          <p:nvPr>
            <p:ph type="sldNum" sz="quarter" idx="12"/>
          </p:nvPr>
        </p:nvSpPr>
        <p:spPr/>
        <p:txBody>
          <a:bodyPr/>
          <a:lstStyle/>
          <a:p>
            <a:fld id="{D57F1E4F-1CFF-5643-939E-02111984F565}" type="slidenum">
              <a:rPr lang="en-US" smtClean="0">
                <a:solidFill>
                  <a:srgbClr val="8A939A"/>
                </a:solidFill>
              </a:rPr>
              <a:t>24</a:t>
            </a:fld>
            <a:endParaRPr lang="en-US">
              <a:solidFill>
                <a:srgbClr val="8A939A"/>
              </a:solidFill>
            </a:endParaRPr>
          </a:p>
        </p:txBody>
      </p:sp>
      <p:sp>
        <p:nvSpPr>
          <p:cNvPr id="21" name="Rounded Rectangle 20"/>
          <p:cNvSpPr/>
          <p:nvPr/>
        </p:nvSpPr>
        <p:spPr>
          <a:xfrm>
            <a:off x="822960" y="137160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43000" y="137160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MCP client</a:t>
            </a:r>
          </a:p>
        </p:txBody>
      </p:sp>
      <p:sp>
        <p:nvSpPr>
          <p:cNvPr id="23" name="TextBox 22"/>
          <p:cNvSpPr txBox="1"/>
          <p:nvPr/>
        </p:nvSpPr>
        <p:spPr>
          <a:xfrm>
            <a:off x="4617720" y="137160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the agent; one secure connection per server</a:t>
            </a:r>
          </a:p>
        </p:txBody>
      </p:sp>
      <p:sp>
        <p:nvSpPr>
          <p:cNvPr id="24" name="Rounded Rectangle 23"/>
          <p:cNvSpPr/>
          <p:nvPr/>
        </p:nvSpPr>
        <p:spPr>
          <a:xfrm>
            <a:off x="822960" y="237744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43000" y="237744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MCP server</a:t>
            </a:r>
          </a:p>
        </p:txBody>
      </p:sp>
      <p:sp>
        <p:nvSpPr>
          <p:cNvPr id="26" name="TextBox 25"/>
          <p:cNvSpPr txBox="1"/>
          <p:nvPr/>
        </p:nvSpPr>
        <p:spPr>
          <a:xfrm>
            <a:off x="4617720" y="237744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exposes a tool's capabilities through the protocol</a:t>
            </a:r>
          </a:p>
        </p:txBody>
      </p:sp>
      <p:sp>
        <p:nvSpPr>
          <p:cNvPr id="27" name="Rounded Rectangle 26"/>
          <p:cNvSpPr/>
          <p:nvPr/>
        </p:nvSpPr>
        <p:spPr>
          <a:xfrm>
            <a:off x="822960" y="3383280"/>
            <a:ext cx="10515600" cy="91440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43000" y="3383280"/>
            <a:ext cx="3383280" cy="914400"/>
          </a:xfrm>
          <a:prstGeom prst="rect">
            <a:avLst/>
          </a:prstGeom>
          <a:noFill/>
        </p:spPr>
        <p:txBody>
          <a:bodyPr wrap="square" lIns="38100" rIns="38100" anchor="ctr">
            <a:spAutoFit/>
          </a:bodyPr>
          <a:lstStyle/>
          <a:p>
            <a:pPr algn="l"/>
            <a:r>
              <a:rPr sz="1900" b="1" i="0">
                <a:solidFill>
                  <a:srgbClr val="1E5155"/>
                </a:solidFill>
                <a:latin typeface="Century Gothic"/>
              </a:rPr>
              <a:t>A server can expose</a:t>
            </a:r>
          </a:p>
        </p:txBody>
      </p:sp>
      <p:sp>
        <p:nvSpPr>
          <p:cNvPr id="29" name="TextBox 28"/>
          <p:cNvSpPr txBox="1"/>
          <p:nvPr/>
        </p:nvSpPr>
        <p:spPr>
          <a:xfrm>
            <a:off x="4617720" y="3383280"/>
            <a:ext cx="6446520" cy="914400"/>
          </a:xfrm>
          <a:prstGeom prst="rect">
            <a:avLst/>
          </a:prstGeom>
          <a:noFill/>
        </p:spPr>
        <p:txBody>
          <a:bodyPr wrap="square" lIns="38100" rIns="38100" anchor="ctr">
            <a:spAutoFit/>
          </a:bodyPr>
          <a:lstStyle/>
          <a:p>
            <a:pPr algn="l"/>
            <a:r>
              <a:rPr sz="1600" b="0" i="0">
                <a:solidFill>
                  <a:srgbClr val="2A2A2A"/>
                </a:solidFill>
                <a:latin typeface="Century Gothic"/>
              </a:rPr>
              <a:t>tools (actions) · resources (data) · prompts (templates)</a:t>
            </a:r>
          </a:p>
        </p:txBody>
      </p:sp>
      <p:sp>
        <p:nvSpPr>
          <p:cNvPr id="30" name="Rounded Rectangle 29"/>
          <p:cNvSpPr/>
          <p:nvPr/>
        </p:nvSpPr>
        <p:spPr>
          <a:xfrm>
            <a:off x="822960" y="5989320"/>
            <a:ext cx="10515600" cy="548640"/>
          </a:xfrm>
          <a:prstGeom prst="roundRect">
            <a:avLst>
              <a:gd name="adj" fmla="val 30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97280" y="5989320"/>
            <a:ext cx="9966960" cy="548640"/>
          </a:xfrm>
          <a:prstGeom prst="rect">
            <a:avLst/>
          </a:prstGeom>
          <a:noFill/>
        </p:spPr>
        <p:txBody>
          <a:bodyPr wrap="square" lIns="38100" rIns="38100" anchor="ctr">
            <a:spAutoFit/>
          </a:bodyPr>
          <a:lstStyle/>
          <a:p>
            <a:pPr algn="l"/>
            <a:r>
              <a:rPr sz="1500" b="1" i="1">
                <a:solidFill>
                  <a:srgbClr val="1E5155"/>
                </a:solidFill>
                <a:latin typeface="Century Gothic"/>
              </a:rPr>
              <a:t>Where to find servers: official MCP registry · mcp.so · glama.ai/mcp · community servers</a:t>
            </a:r>
          </a:p>
        </p:txBody>
      </p:sp>
    </p:spTree>
    <p:extLst>
      <p:ext uri="{BB962C8B-B14F-4D97-AF65-F5344CB8AC3E}">
        <p14:creationId xmlns:p14="http://schemas.microsoft.com/office/powerpoint/2010/main" val="575770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B4160-63FD-42FC-B78C-2C5CEB78D219}"/>
              </a:ext>
            </a:extLst>
          </p:cNvPr>
          <p:cNvSpPr>
            <a:spLocks noGrp="1"/>
          </p:cNvSpPr>
          <p:nvPr>
            <p:ph type="title"/>
          </p:nvPr>
        </p:nvSpPr>
        <p:spPr>
          <a:xfrm>
            <a:off x="599806" y="324229"/>
            <a:ext cx="10515600" cy="1325563"/>
          </a:xfrm>
        </p:spPr>
        <p:txBody>
          <a:bodyPr/>
          <a:lstStyle/>
          <a:p>
            <a:r>
              <a:rPr sz="2800" b="0">
                <a:solidFill>
                  <a:srgbClr val="0B1F33"/>
                </a:solidFill>
                <a:latin typeface="Century Gothic"/>
              </a:rPr>
              <a:t>With code, an agent builds its own tools</a:t>
            </a:r>
          </a:p>
        </p:txBody>
      </p:sp>
      <p:sp>
        <p:nvSpPr>
          <p:cNvPr id="4" name="Footer Placeholder 3">
            <a:extLst>
              <a:ext uri="{FF2B5EF4-FFF2-40B4-BE49-F238E27FC236}">
                <a16:creationId xmlns:a16="http://schemas.microsoft.com/office/drawing/2014/main" id="{B1D809A1-C735-8F16-592B-35FCDA929006}"/>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p>
        </p:txBody>
      </p:sp>
      <p:sp>
        <p:nvSpPr>
          <p:cNvPr id="5" name="Slide Number Placeholder 4">
            <a:extLst>
              <a:ext uri="{FF2B5EF4-FFF2-40B4-BE49-F238E27FC236}">
                <a16:creationId xmlns:a16="http://schemas.microsoft.com/office/drawing/2014/main" id="{DF4FEA9B-1FF3-B91A-7138-A7DEC72BC462}"/>
              </a:ext>
            </a:extLst>
          </p:cNvPr>
          <p:cNvSpPr>
            <a:spLocks noGrp="1"/>
          </p:cNvSpPr>
          <p:nvPr>
            <p:ph type="sldNum" sz="quarter" idx="12"/>
          </p:nvPr>
        </p:nvSpPr>
        <p:spPr/>
        <p:txBody>
          <a:bodyPr/>
          <a:lstStyle/>
          <a:p>
            <a:fld id="{D57F1E4F-1CFF-5643-939E-02111984F565}" type="slidenum">
              <a:rPr lang="en-US" smtClean="0">
                <a:solidFill>
                  <a:srgbClr val="8A939A"/>
                </a:solidFill>
              </a:rPr>
              <a:t>25</a:t>
            </a:fld>
            <a:endParaRPr lang="en-US">
              <a:solidFill>
                <a:srgbClr val="8A939A"/>
              </a:solidFill>
            </a:endParaRPr>
          </a:p>
        </p:txBody>
      </p:sp>
      <p:pic>
        <p:nvPicPr>
          <p:cNvPr id="7" name="Picture 6" descr="A diagram of a code execution agent">
            <a:extLst>
              <a:ext uri="{FF2B5EF4-FFF2-40B4-BE49-F238E27FC236}">
                <a16:creationId xmlns:a16="http://schemas.microsoft.com/office/drawing/2014/main" id="{BB388043-3880-AE40-EB37-A74A3B497BFA}"/>
              </a:ext>
            </a:extLst>
          </p:cNvPr>
          <p:cNvPicPr>
            <a:picLocks noChangeAspect="1"/>
          </p:cNvPicPr>
          <p:nvPr/>
        </p:nvPicPr>
        <p:blipFill>
          <a:blip r:embed="rId3"/>
          <a:stretch>
            <a:fillRect/>
          </a:stretch>
        </p:blipFill>
        <p:spPr>
          <a:xfrm>
            <a:off x="609447" y="2220315"/>
            <a:ext cx="10972800" cy="3286048"/>
          </a:xfrm>
          <a:prstGeom prst="rect">
            <a:avLst/>
          </a:prstGeom>
        </p:spPr>
      </p:pic>
    </p:spTree>
    <p:extLst>
      <p:ext uri="{BB962C8B-B14F-4D97-AF65-F5344CB8AC3E}">
        <p14:creationId xmlns:p14="http://schemas.microsoft.com/office/powerpoint/2010/main" val="887955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0" name="Teal Bar"/>
          <p:cNvSpPr/>
          <p:nvPr/>
        </p:nvSpPr>
        <p:spPr>
          <a:xfrm>
            <a:off x="914400" y="2788920"/>
            <a:ext cx="1280160" cy="109728"/>
          </a:xfrm>
          <a:prstGeom prst="roundRect">
            <a:avLst/>
          </a:prstGeom>
          <a:solidFill>
            <a:srgbClr val="58C1BA"/>
          </a:solidFill>
          <a:ln>
            <a:noFill/>
          </a:ln>
        </p:spPr>
        <p:txBody>
          <a:bodyPr/>
          <a:lstStyle/>
          <a:p>
            <a:endParaRPr lang="en-US"/>
          </a:p>
        </p:txBody>
      </p:sp>
      <p:sp>
        <p:nvSpPr>
          <p:cNvPr id="11" name="Section Title"/>
          <p:cNvSpPr txBox="1"/>
          <p:nvPr/>
        </p:nvSpPr>
        <p:spPr>
          <a:xfrm>
            <a:off x="914400" y="3063240"/>
            <a:ext cx="10332720" cy="1280160"/>
          </a:xfrm>
          <a:prstGeom prst="rect">
            <a:avLst/>
          </a:prstGeom>
          <a:noFill/>
        </p:spPr>
        <p:txBody>
          <a:bodyPr wrap="square" rtlCol="0">
            <a:normAutofit/>
          </a:bodyPr>
          <a:lstStyle/>
          <a:p>
            <a:pPr algn="l"/>
            <a:r>
              <a:rPr lang="en-US" sz="3800" b="1" dirty="0">
                <a:solidFill>
                  <a:srgbClr val="FFFFFF"/>
                </a:solidFill>
              </a:rPr>
              <a:t>Planning</a:t>
            </a:r>
          </a:p>
        </p:txBody>
      </p:sp>
      <p:sp>
        <p:nvSpPr>
          <p:cNvPr id="12" name="Section Subtitle"/>
          <p:cNvSpPr txBox="1"/>
          <p:nvPr/>
        </p:nvSpPr>
        <p:spPr>
          <a:xfrm>
            <a:off x="941832" y="4343400"/>
            <a:ext cx="10058400" cy="548640"/>
          </a:xfrm>
          <a:prstGeom prst="rect">
            <a:avLst/>
          </a:prstGeom>
          <a:noFill/>
        </p:spPr>
        <p:txBody>
          <a:bodyPr wrap="square" rtlCol="0">
            <a:normAutofit/>
          </a:bodyPr>
          <a:lstStyle/>
          <a:p>
            <a:pPr algn="l"/>
            <a:r>
              <a:rPr lang="en-US" sz="1600" i="1" dirty="0">
                <a:solidFill>
                  <a:srgbClr val="9FB4C7"/>
                </a:solidFill>
              </a:rPr>
              <a:t>Deciding what to do, and in what order</a:t>
            </a:r>
          </a:p>
        </p:txBody>
      </p:sp>
      <p:sp>
        <p:nvSpPr>
          <p:cNvPr id="13" name="Footer"/>
          <p:cNvSpPr txBox="1"/>
          <p:nvPr/>
        </p:nvSpPr>
        <p:spPr>
          <a:xfrm>
            <a:off x="402336" y="6647688"/>
            <a:ext cx="2926080" cy="274320"/>
          </a:xfrm>
          <a:prstGeom prst="rect">
            <a:avLst/>
          </a:prstGeom>
          <a:noFill/>
        </p:spPr>
        <p:txBody>
          <a:bodyPr/>
          <a:lstStyle/>
          <a:p>
            <a:pPr algn="l"/>
            <a:r>
              <a:rPr lang="en-US" sz="900" dirty="0">
                <a:solidFill>
                  <a:srgbClr val="8A939A"/>
                </a:solidFill>
              </a:rPr>
              <a:t>Ligorio - AI Agents</a:t>
            </a:r>
          </a:p>
        </p:txBody>
      </p:sp>
      <p:sp>
        <p:nvSpPr>
          <p:cNvPr id="14" name="Slide Number"/>
          <p:cNvSpPr txBox="1"/>
          <p:nvPr/>
        </p:nvSpPr>
        <p:spPr>
          <a:xfrm>
            <a:off x="11201400" y="265176"/>
            <a:ext cx="612648" cy="320040"/>
          </a:xfrm>
          <a:prstGeom prst="rect">
            <a:avLst/>
          </a:prstGeom>
          <a:noFill/>
        </p:spPr>
        <p:txBody>
          <a:bodyPr/>
          <a:lstStyle/>
          <a:p>
            <a:pPr algn="ctr"/>
            <a:fld id="{5F1B0A5E-3A4C-4E77-9C21-2E0B7A8F0001}" type="slidenum">
              <a:rPr lang="en-US" sz="1350">
                <a:solidFill>
                  <a:srgbClr val="8A939A"/>
                </a:solidFill>
              </a:rPr>
              <a:t>26</a:t>
            </a:fld>
            <a:endParaRPr lang="en-US" sz="13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0B562-B8ED-0896-6E7B-29F8E72E8535}"/>
              </a:ext>
            </a:extLst>
          </p:cNvPr>
          <p:cNvSpPr>
            <a:spLocks noGrp="1"/>
          </p:cNvSpPr>
          <p:nvPr>
            <p:ph type="title"/>
          </p:nvPr>
        </p:nvSpPr>
        <p:spPr>
          <a:xfrm>
            <a:off x="646112" y="271619"/>
            <a:ext cx="10515600" cy="1325563"/>
          </a:xfrm>
        </p:spPr>
        <p:txBody>
          <a:bodyPr/>
          <a:lstStyle/>
          <a:p>
            <a:r>
              <a:rPr sz="2800" b="0">
                <a:solidFill>
                  <a:srgbClr val="0B1F33"/>
                </a:solidFill>
                <a:latin typeface="Century Gothic"/>
              </a:rPr>
              <a:t>Plan first, then execute step by step</a:t>
            </a:r>
          </a:p>
        </p:txBody>
      </p:sp>
      <p:sp>
        <p:nvSpPr>
          <p:cNvPr id="4" name="Footer Placeholder 3">
            <a:extLst>
              <a:ext uri="{FF2B5EF4-FFF2-40B4-BE49-F238E27FC236}">
                <a16:creationId xmlns:a16="http://schemas.microsoft.com/office/drawing/2014/main" id="{51547743-958D-0DB8-FBD6-C5477EA3E002}"/>
              </a:ext>
            </a:extLst>
          </p:cNvPr>
          <p:cNvSpPr>
            <a:spLocks noGrp="1"/>
          </p:cNvSpPr>
          <p:nvPr>
            <p:ph type="ftr" sz="quarter" idx="11"/>
          </p:nvPr>
        </p:nvSpPr>
        <p:spPr>
          <a:xfrm>
            <a:off x="402336" y="6647688"/>
            <a:ext cx="2926080" cy="274320"/>
          </a:xfrm>
        </p:spPr>
        <p:txBody>
          <a:bodyPr/>
          <a:lstStyle/>
          <a:p>
            <a:r>
              <a:rPr lang="en-US">
                <a:solidFill>
                  <a:srgbClr val="8A939A"/>
                </a:solidFill>
              </a:rPr>
              <a:t>Ligorio - AI Agents</a:t>
            </a:r>
          </a:p>
        </p:txBody>
      </p:sp>
      <p:sp>
        <p:nvSpPr>
          <p:cNvPr id="5" name="Slide Number Placeholder 4">
            <a:extLst>
              <a:ext uri="{FF2B5EF4-FFF2-40B4-BE49-F238E27FC236}">
                <a16:creationId xmlns:a16="http://schemas.microsoft.com/office/drawing/2014/main" id="{EA021288-6A6C-82D7-1AEE-424EE3CD8CFE}"/>
              </a:ext>
            </a:extLst>
          </p:cNvPr>
          <p:cNvSpPr>
            <a:spLocks noGrp="1"/>
          </p:cNvSpPr>
          <p:nvPr>
            <p:ph type="sldNum" sz="quarter" idx="12"/>
          </p:nvPr>
        </p:nvSpPr>
        <p:spPr/>
        <p:txBody>
          <a:bodyPr/>
          <a:lstStyle/>
          <a:p>
            <a:fld id="{D57F1E4F-1CFF-5643-939E-02111984F565}" type="slidenum">
              <a:rPr lang="en-US" smtClean="0">
                <a:solidFill>
                  <a:srgbClr val="8A939A"/>
                </a:solidFill>
              </a:rPr>
              <a:t>27</a:t>
            </a:fld>
            <a:endParaRPr lang="en-US">
              <a:solidFill>
                <a:srgbClr val="8A939A"/>
              </a:solidFill>
            </a:endParaRPr>
          </a:p>
        </p:txBody>
      </p:sp>
      <p:pic>
        <p:nvPicPr>
          <p:cNvPr id="7" name="Picture 6" descr="A diagram of a planning agent">
            <a:extLst>
              <a:ext uri="{FF2B5EF4-FFF2-40B4-BE49-F238E27FC236}">
                <a16:creationId xmlns:a16="http://schemas.microsoft.com/office/drawing/2014/main" id="{1A7192E0-E133-0BEA-6A1B-26D8D405C866}"/>
              </a:ext>
            </a:extLst>
          </p:cNvPr>
          <p:cNvPicPr>
            <a:picLocks noChangeAspect="1"/>
          </p:cNvPicPr>
          <p:nvPr/>
        </p:nvPicPr>
        <p:blipFill>
          <a:blip r:embed="rId3"/>
          <a:stretch>
            <a:fillRect/>
          </a:stretch>
        </p:blipFill>
        <p:spPr>
          <a:xfrm>
            <a:off x="2241847" y="1417320"/>
            <a:ext cx="7708000" cy="4892040"/>
          </a:xfrm>
          <a:prstGeom prst="rect">
            <a:avLst/>
          </a:prstGeom>
        </p:spPr>
      </p:pic>
    </p:spTree>
    <p:extLst>
      <p:ext uri="{BB962C8B-B14F-4D97-AF65-F5344CB8AC3E}">
        <p14:creationId xmlns:p14="http://schemas.microsoft.com/office/powerpoint/2010/main" val="3951383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978CD-996F-92AF-CA40-4FFAE9C2BFBD}"/>
              </a:ext>
            </a:extLst>
          </p:cNvPr>
          <p:cNvSpPr>
            <a:spLocks noGrp="1"/>
          </p:cNvSpPr>
          <p:nvPr>
            <p:ph type="title"/>
          </p:nvPr>
        </p:nvSpPr>
        <p:spPr>
          <a:xfrm>
            <a:off x="645130" y="244546"/>
            <a:ext cx="10515600" cy="1325563"/>
          </a:xfrm>
        </p:spPr>
        <p:txBody>
          <a:bodyPr/>
          <a:lstStyle/>
          <a:p>
            <a:r>
              <a:rPr sz="2800" b="0">
                <a:solidFill>
                  <a:srgbClr val="0B1F33"/>
                </a:solidFill>
                <a:latin typeface="Century Gothic"/>
              </a:rPr>
              <a:t>Code planning: more power, less control</a:t>
            </a:r>
          </a:p>
        </p:txBody>
      </p:sp>
      <p:sp>
        <p:nvSpPr>
          <p:cNvPr id="4" name="Footer Placeholder 3">
            <a:extLst>
              <a:ext uri="{FF2B5EF4-FFF2-40B4-BE49-F238E27FC236}">
                <a16:creationId xmlns:a16="http://schemas.microsoft.com/office/drawing/2014/main" id="{A361D485-E5A7-CCF8-FC9E-C8E1D1D96512}"/>
              </a:ext>
            </a:extLst>
          </p:cNvPr>
          <p:cNvSpPr>
            <a:spLocks noGrp="1"/>
          </p:cNvSpPr>
          <p:nvPr>
            <p:ph type="ftr" sz="quarter" idx="11"/>
          </p:nvPr>
        </p:nvSpPr>
        <p:spPr>
          <a:xfrm>
            <a:off x="402336" y="6647688"/>
            <a:ext cx="2926080" cy="274320"/>
          </a:xfrm>
        </p:spPr>
        <p:txBody>
          <a:bodyPr/>
          <a:lstStyle/>
          <a:p>
            <a:r>
              <a:rPr lang="en-US"/>
              <a:t>Ligorio - AI Agents</a:t>
            </a:r>
          </a:p>
        </p:txBody>
      </p:sp>
      <p:sp>
        <p:nvSpPr>
          <p:cNvPr id="5" name="Slide Number Placeholder 4">
            <a:extLst>
              <a:ext uri="{FF2B5EF4-FFF2-40B4-BE49-F238E27FC236}">
                <a16:creationId xmlns:a16="http://schemas.microsoft.com/office/drawing/2014/main" id="{BE8B186E-60BD-B02E-62D7-2D9166C4A3D8}"/>
              </a:ext>
            </a:extLst>
          </p:cNvPr>
          <p:cNvSpPr>
            <a:spLocks noGrp="1"/>
          </p:cNvSpPr>
          <p:nvPr>
            <p:ph type="sldNum" sz="quarter" idx="12"/>
          </p:nvPr>
        </p:nvSpPr>
        <p:spPr/>
        <p:txBody>
          <a:bodyPr/>
          <a:lstStyle/>
          <a:p>
            <a:fld id="{D57F1E4F-1CFF-5643-939E-02111984F565}" type="slidenum">
              <a:rPr lang="en-US" smtClean="0"/>
              <a:t>28</a:t>
            </a:fld>
            <a:endParaRPr lang="en-US"/>
          </a:p>
        </p:txBody>
      </p:sp>
      <p:pic>
        <p:nvPicPr>
          <p:cNvPr id="7" name="Picture 6" descr="A diagram of a planning-with-code agent">
            <a:extLst>
              <a:ext uri="{FF2B5EF4-FFF2-40B4-BE49-F238E27FC236}">
                <a16:creationId xmlns:a16="http://schemas.microsoft.com/office/drawing/2014/main" id="{EEFED7AD-0820-496A-3ED4-282DA9568241}"/>
              </a:ext>
            </a:extLst>
          </p:cNvPr>
          <p:cNvPicPr>
            <a:picLocks noChangeAspect="1"/>
          </p:cNvPicPr>
          <p:nvPr/>
        </p:nvPicPr>
        <p:blipFill>
          <a:blip r:embed="rId3"/>
          <a:srcRect r="2676" b="4765"/>
          <a:stretch>
            <a:fillRect/>
          </a:stretch>
        </p:blipFill>
        <p:spPr>
          <a:xfrm>
            <a:off x="842056" y="1417320"/>
            <a:ext cx="10507581" cy="4892040"/>
          </a:xfrm>
          <a:prstGeom prst="rect">
            <a:avLst/>
          </a:prstGeom>
        </p:spPr>
      </p:pic>
    </p:spTree>
    <p:extLst>
      <p:ext uri="{BB962C8B-B14F-4D97-AF65-F5344CB8AC3E}">
        <p14:creationId xmlns:p14="http://schemas.microsoft.com/office/powerpoint/2010/main" val="877654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0">
                <a:solidFill>
                  <a:srgbClr val="0B1F33"/>
                </a:solidFill>
                <a:latin typeface="Century Gothic"/>
              </a:rPr>
              <a:t>ReAct adapts; planning commits up front</a:t>
            </a:r>
          </a:p>
        </p:txBody>
      </p:sp>
      <p:pic>
        <p:nvPicPr>
          <p:cNvPr id="4" name="Picture 3" descr="06_react_vs_plan.png"/>
          <p:cNvPicPr>
            <a:picLocks noChangeAspect="1"/>
          </p:cNvPicPr>
          <p:nvPr/>
        </p:nvPicPr>
        <p:blipFill>
          <a:blip r:embed="rId3"/>
          <a:stretch>
            <a:fillRect/>
          </a:stretch>
        </p:blipFill>
        <p:spPr>
          <a:xfrm>
            <a:off x="609447" y="1424940"/>
            <a:ext cx="10972800" cy="4876800"/>
          </a:xfrm>
          <a:prstGeom prst="rect">
            <a:avLst/>
          </a:prstGeom>
        </p:spPr>
      </p:pic>
      <p:sp>
        <p:nvSpPr>
          <p:cNvPr id="5" name="TextBox 4"/>
          <p:cNvSpPr txBox="1"/>
          <p:nvPr/>
        </p:nvSpPr>
        <p:spPr>
          <a:xfrm>
            <a:off x="402336" y="6647688"/>
            <a:ext cx="2926080" cy="274320"/>
          </a:xfrm>
          <a:prstGeom prst="rect">
            <a:avLst/>
          </a:prstGeom>
          <a:noFill/>
        </p:spPr>
        <p:txBody>
          <a:bodyPr wrap="none">
            <a:spAutoFit/>
          </a:bodyPr>
          <a:lstStyle/>
          <a:p>
            <a:r>
              <a:rPr sz="1100">
                <a:solidFill>
                  <a:srgbClr val="8A939A"/>
                </a:solidFill>
                <a:latin typeface="Century Gothic"/>
              </a:rPr>
              <a:t>Ligorio - AI Agents</a:t>
            </a:r>
          </a:p>
        </p:txBody>
      </p:sp>
      <p:sp>
        <p:nvSpPr>
          <p:cNvPr id="6" name="TextBox 5"/>
          <p:cNvSpPr txBox="1"/>
          <p:nvPr/>
        </p:nvSpPr>
        <p:spPr>
          <a:xfrm>
            <a:off x="11155680" y="256032"/>
            <a:ext cx="658368" cy="329184"/>
          </a:xfrm>
          <a:prstGeom prst="rect">
            <a:avLst/>
          </a:prstGeom>
          <a:noFill/>
        </p:spPr>
        <p:txBody>
          <a:bodyPr wrap="none">
            <a:spAutoFit/>
          </a:bodyPr>
          <a:lstStyle/>
          <a:p>
            <a:pPr algn="ctr"/>
            <a:fld id="{5F1B0A5E-3A4C-4E77-9C21-2E0B7A8F00FF}" type="slidenum">
              <a:rPr lang="en-US" sz="1350">
                <a:solidFill>
                  <a:srgbClr val="8A939A"/>
                </a:solidFill>
              </a:rPr>
              <a:t>29</a:t>
            </a:fld>
            <a:endParaRPr lang="en-US" sz="1350">
              <a:solidFill>
                <a:srgbClr val="8A939A"/>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10" name="Teal Bar"/>
          <p:cNvSpPr/>
          <p:nvPr/>
        </p:nvSpPr>
        <p:spPr>
          <a:xfrm>
            <a:off x="914400" y="2788920"/>
            <a:ext cx="1280160" cy="109728"/>
          </a:xfrm>
          <a:prstGeom prst="roundRect">
            <a:avLst/>
          </a:prstGeom>
          <a:solidFill>
            <a:srgbClr val="58C1BA"/>
          </a:solidFill>
          <a:ln>
            <a:noFill/>
          </a:ln>
        </p:spPr>
        <p:txBody>
          <a:bodyPr/>
          <a:lstStyle/>
          <a:p>
            <a:endParaRPr lang="en-US"/>
          </a:p>
        </p:txBody>
      </p:sp>
      <p:sp>
        <p:nvSpPr>
          <p:cNvPr id="11" name="Section Title"/>
          <p:cNvSpPr txBox="1"/>
          <p:nvPr/>
        </p:nvSpPr>
        <p:spPr>
          <a:xfrm>
            <a:off x="914400" y="3063240"/>
            <a:ext cx="10332720" cy="1280160"/>
          </a:xfrm>
          <a:prstGeom prst="rect">
            <a:avLst/>
          </a:prstGeom>
          <a:noFill/>
        </p:spPr>
        <p:txBody>
          <a:bodyPr wrap="square" rtlCol="0">
            <a:normAutofit/>
          </a:bodyPr>
          <a:lstStyle/>
          <a:p>
            <a:pPr algn="l"/>
            <a:r>
              <a:rPr lang="en-US" sz="3800" b="1" dirty="0">
                <a:solidFill>
                  <a:srgbClr val="FFFFFF"/>
                </a:solidFill>
              </a:rPr>
              <a:t>Wrap-up &amp; what's next</a:t>
            </a:r>
          </a:p>
        </p:txBody>
      </p:sp>
      <p:sp>
        <p:nvSpPr>
          <p:cNvPr id="12" name="Section Subtitle"/>
          <p:cNvSpPr txBox="1"/>
          <p:nvPr/>
        </p:nvSpPr>
        <p:spPr>
          <a:xfrm>
            <a:off x="941832" y="4343400"/>
            <a:ext cx="10058400" cy="548640"/>
          </a:xfrm>
          <a:prstGeom prst="rect">
            <a:avLst/>
          </a:prstGeom>
          <a:noFill/>
        </p:spPr>
        <p:txBody>
          <a:bodyPr wrap="square" rtlCol="0">
            <a:normAutofit/>
          </a:bodyPr>
          <a:lstStyle/>
          <a:p>
            <a:pPr algn="l"/>
            <a:r>
              <a:rPr lang="en-US" sz="1600" i="1" dirty="0">
                <a:solidFill>
                  <a:srgbClr val="9FB4C7"/>
                </a:solidFill>
              </a:rPr>
              <a:t>Where the agent loop leads</a:t>
            </a:r>
          </a:p>
        </p:txBody>
      </p:sp>
      <p:sp>
        <p:nvSpPr>
          <p:cNvPr id="13" name="Footer"/>
          <p:cNvSpPr txBox="1"/>
          <p:nvPr/>
        </p:nvSpPr>
        <p:spPr>
          <a:xfrm>
            <a:off x="402336" y="6647688"/>
            <a:ext cx="2926080" cy="274320"/>
          </a:xfrm>
          <a:prstGeom prst="rect">
            <a:avLst/>
          </a:prstGeom>
          <a:noFill/>
        </p:spPr>
        <p:txBody>
          <a:bodyPr/>
          <a:lstStyle/>
          <a:p>
            <a:pPr algn="l"/>
            <a:r>
              <a:rPr lang="en-US" sz="900" dirty="0">
                <a:solidFill>
                  <a:srgbClr val="8A939A"/>
                </a:solidFill>
              </a:rPr>
              <a:t>Ligorio - AI Agents</a:t>
            </a:r>
          </a:p>
        </p:txBody>
      </p:sp>
      <p:sp>
        <p:nvSpPr>
          <p:cNvPr id="14" name="Slide Number"/>
          <p:cNvSpPr txBox="1"/>
          <p:nvPr/>
        </p:nvSpPr>
        <p:spPr>
          <a:xfrm>
            <a:off x="11201400" y="265176"/>
            <a:ext cx="612648" cy="320040"/>
          </a:xfrm>
          <a:prstGeom prst="rect">
            <a:avLst/>
          </a:prstGeom>
          <a:noFill/>
        </p:spPr>
        <p:txBody>
          <a:bodyPr/>
          <a:lstStyle/>
          <a:p>
            <a:pPr algn="ctr"/>
            <a:fld id="{5F1B0A5E-3A4C-4E77-9C21-2E0B7A8F0001}" type="slidenum">
              <a:rPr lang="en-US" sz="1350">
                <a:solidFill>
                  <a:srgbClr val="8A939A"/>
                </a:solidFill>
              </a:rPr>
              <a:t>30</a:t>
            </a:fld>
            <a:endParaRPr lang="en-US" sz="135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0">
                <a:solidFill>
                  <a:srgbClr val="0B1F33"/>
                </a:solidFill>
                <a:latin typeface="Century Gothic"/>
              </a:rPr>
              <a:t>Wrap-up</a:t>
            </a:r>
          </a:p>
        </p:txBody>
      </p:sp>
      <p:sp>
        <p:nvSpPr>
          <p:cNvPr id="4" name="TextBox 3"/>
          <p:cNvSpPr txBox="1"/>
          <p:nvPr/>
        </p:nvSpPr>
        <p:spPr>
          <a:xfrm>
            <a:off x="402336" y="6647688"/>
            <a:ext cx="2926080" cy="274320"/>
          </a:xfrm>
          <a:prstGeom prst="rect">
            <a:avLst/>
          </a:prstGeom>
          <a:noFill/>
        </p:spPr>
        <p:txBody>
          <a:bodyPr wrap="none">
            <a:spAutoFit/>
          </a:bodyPr>
          <a:lstStyle/>
          <a:p>
            <a:r>
              <a:rPr sz="1100">
                <a:solidFill>
                  <a:srgbClr val="8A939A"/>
                </a:solidFill>
                <a:latin typeface="Century Gothic"/>
              </a:rPr>
              <a:t>Ligorio - AI Agents</a:t>
            </a:r>
          </a:p>
        </p:txBody>
      </p:sp>
      <p:sp>
        <p:nvSpPr>
          <p:cNvPr id="5" name="TextBox 4"/>
          <p:cNvSpPr txBox="1"/>
          <p:nvPr/>
        </p:nvSpPr>
        <p:spPr>
          <a:xfrm>
            <a:off x="11155680" y="256032"/>
            <a:ext cx="658368" cy="329184"/>
          </a:xfrm>
          <a:prstGeom prst="rect">
            <a:avLst/>
          </a:prstGeom>
          <a:noFill/>
        </p:spPr>
        <p:txBody>
          <a:bodyPr wrap="none">
            <a:spAutoFit/>
          </a:bodyPr>
          <a:lstStyle/>
          <a:p>
            <a:pPr algn="ctr"/>
            <a:fld id="{5F1B0A5E-3A4C-4E77-9C21-2E0B7A8F00FF}" type="slidenum">
              <a:rPr lang="en-US" sz="1350">
                <a:solidFill>
                  <a:srgbClr val="8A939A"/>
                </a:solidFill>
              </a:rPr>
              <a:t>31</a:t>
            </a:fld>
            <a:endParaRPr lang="en-US" sz="1350">
              <a:solidFill>
                <a:srgbClr val="8A939A"/>
              </a:solidFill>
            </a:endParaRPr>
          </a:p>
        </p:txBody>
      </p:sp>
      <p:sp>
        <p:nvSpPr>
          <p:cNvPr id="6" name="Rounded Rectangle 5"/>
          <p:cNvSpPr/>
          <p:nvPr/>
        </p:nvSpPr>
        <p:spPr>
          <a:xfrm>
            <a:off x="822960" y="1234440"/>
            <a:ext cx="10515600" cy="77724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1234440"/>
            <a:ext cx="3383280" cy="777240"/>
          </a:xfrm>
          <a:prstGeom prst="rect">
            <a:avLst/>
          </a:prstGeom>
          <a:noFill/>
        </p:spPr>
        <p:txBody>
          <a:bodyPr wrap="square" lIns="38100" rIns="38100" anchor="ctr">
            <a:spAutoFit/>
          </a:bodyPr>
          <a:lstStyle/>
          <a:p>
            <a:pPr algn="l"/>
            <a:r>
              <a:rPr sz="1900" b="1" i="0">
                <a:solidFill>
                  <a:srgbClr val="1E5155"/>
                </a:solidFill>
                <a:latin typeface="Century Gothic"/>
              </a:rPr>
              <a:t>The ReAct loop</a:t>
            </a:r>
          </a:p>
        </p:txBody>
      </p:sp>
      <p:sp>
        <p:nvSpPr>
          <p:cNvPr id="8" name="TextBox 7"/>
          <p:cNvSpPr txBox="1"/>
          <p:nvPr/>
        </p:nvSpPr>
        <p:spPr>
          <a:xfrm>
            <a:off x="4617720" y="1234440"/>
            <a:ext cx="6446520" cy="777240"/>
          </a:xfrm>
          <a:prstGeom prst="rect">
            <a:avLst/>
          </a:prstGeom>
          <a:noFill/>
        </p:spPr>
        <p:txBody>
          <a:bodyPr wrap="square" lIns="38100" rIns="38100" anchor="ctr">
            <a:spAutoFit/>
          </a:bodyPr>
          <a:lstStyle/>
          <a:p>
            <a:pPr algn="l"/>
            <a:r>
              <a:rPr sz="1600" b="0" i="0">
                <a:solidFill>
                  <a:srgbClr val="2A2A2A"/>
                </a:solidFill>
                <a:latin typeface="Century Gothic"/>
              </a:rPr>
              <a:t>Reason -&gt; Act -&gt; Observe, repeated until done</a:t>
            </a:r>
          </a:p>
        </p:txBody>
      </p:sp>
      <p:sp>
        <p:nvSpPr>
          <p:cNvPr id="9" name="Rounded Rectangle 8"/>
          <p:cNvSpPr/>
          <p:nvPr/>
        </p:nvSpPr>
        <p:spPr>
          <a:xfrm>
            <a:off x="822960" y="2103120"/>
            <a:ext cx="10515600" cy="77724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2103120"/>
            <a:ext cx="3383280" cy="777240"/>
          </a:xfrm>
          <a:prstGeom prst="rect">
            <a:avLst/>
          </a:prstGeom>
          <a:noFill/>
        </p:spPr>
        <p:txBody>
          <a:bodyPr wrap="square" lIns="38100" rIns="38100" anchor="ctr">
            <a:spAutoFit/>
          </a:bodyPr>
          <a:lstStyle/>
          <a:p>
            <a:pPr algn="l"/>
            <a:r>
              <a:rPr sz="1900" b="1" i="0">
                <a:solidFill>
                  <a:srgbClr val="1E5155"/>
                </a:solidFill>
                <a:latin typeface="Century Gothic"/>
              </a:rPr>
              <a:t>Tools</a:t>
            </a:r>
          </a:p>
        </p:txBody>
      </p:sp>
      <p:sp>
        <p:nvSpPr>
          <p:cNvPr id="11" name="TextBox 10"/>
          <p:cNvSpPr txBox="1"/>
          <p:nvPr/>
        </p:nvSpPr>
        <p:spPr>
          <a:xfrm>
            <a:off x="4617720" y="2103120"/>
            <a:ext cx="6446520" cy="777240"/>
          </a:xfrm>
          <a:prstGeom prst="rect">
            <a:avLst/>
          </a:prstGeom>
          <a:noFill/>
        </p:spPr>
        <p:txBody>
          <a:bodyPr wrap="square" lIns="38100" rIns="38100" anchor="ctr">
            <a:spAutoFit/>
          </a:bodyPr>
          <a:lstStyle/>
          <a:p>
            <a:pPr algn="l"/>
            <a:r>
              <a:rPr sz="1600" b="0" i="0">
                <a:solidFill>
                  <a:srgbClr val="2A2A2A"/>
                </a:solidFill>
                <a:latin typeface="Century Gothic"/>
              </a:rPr>
              <a:t>extend what an agent can do; defined &amp; called as JSON (MCP standardizes it)</a:t>
            </a:r>
          </a:p>
        </p:txBody>
      </p:sp>
      <p:sp>
        <p:nvSpPr>
          <p:cNvPr id="12" name="Rounded Rectangle 11"/>
          <p:cNvSpPr/>
          <p:nvPr/>
        </p:nvSpPr>
        <p:spPr>
          <a:xfrm>
            <a:off x="822960" y="2971800"/>
            <a:ext cx="10515600" cy="77724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2971800"/>
            <a:ext cx="3383280" cy="777240"/>
          </a:xfrm>
          <a:prstGeom prst="rect">
            <a:avLst/>
          </a:prstGeom>
          <a:noFill/>
        </p:spPr>
        <p:txBody>
          <a:bodyPr wrap="square" lIns="38100" rIns="38100" anchor="ctr">
            <a:spAutoFit/>
          </a:bodyPr>
          <a:lstStyle/>
          <a:p>
            <a:pPr algn="l"/>
            <a:r>
              <a:rPr sz="1900" b="1" i="0">
                <a:solidFill>
                  <a:srgbClr val="1E5155"/>
                </a:solidFill>
                <a:latin typeface="Century Gothic"/>
              </a:rPr>
              <a:t>Planning</a:t>
            </a:r>
          </a:p>
        </p:txBody>
      </p:sp>
      <p:sp>
        <p:nvSpPr>
          <p:cNvPr id="14" name="TextBox 13"/>
          <p:cNvSpPr txBox="1"/>
          <p:nvPr/>
        </p:nvSpPr>
        <p:spPr>
          <a:xfrm>
            <a:off x="4617720" y="2971800"/>
            <a:ext cx="6446520" cy="777240"/>
          </a:xfrm>
          <a:prstGeom prst="rect">
            <a:avLst/>
          </a:prstGeom>
          <a:noFill/>
        </p:spPr>
        <p:txBody>
          <a:bodyPr wrap="square" lIns="38100" rIns="38100" anchor="ctr">
            <a:spAutoFit/>
          </a:bodyPr>
          <a:lstStyle/>
          <a:p>
            <a:pPr algn="l"/>
            <a:r>
              <a:rPr sz="1600" b="0" i="0">
                <a:solidFill>
                  <a:srgbClr val="2A2A2A"/>
                </a:solidFill>
                <a:latin typeface="Century Gothic"/>
              </a:rPr>
              <a:t>interleaved (ReAct) vs plan-then-execute</a:t>
            </a:r>
          </a:p>
        </p:txBody>
      </p:sp>
      <p:sp>
        <p:nvSpPr>
          <p:cNvPr id="15" name="Rounded Rectangle 14"/>
          <p:cNvSpPr/>
          <p:nvPr/>
        </p:nvSpPr>
        <p:spPr>
          <a:xfrm>
            <a:off x="822960" y="3840480"/>
            <a:ext cx="10515600" cy="777240"/>
          </a:xfrm>
          <a:prstGeom prst="roundRect">
            <a:avLst>
              <a:gd name="adj" fmla="val 16000"/>
            </a:avLst>
          </a:prstGeom>
          <a:solidFill>
            <a:srgbClr val="E4F0EF"/>
          </a:solidFill>
          <a:ln w="15875">
            <a:solidFill>
              <a:srgbClr val="1E5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3840480"/>
            <a:ext cx="3383280" cy="777240"/>
          </a:xfrm>
          <a:prstGeom prst="rect">
            <a:avLst/>
          </a:prstGeom>
          <a:noFill/>
        </p:spPr>
        <p:txBody>
          <a:bodyPr wrap="square" lIns="38100" rIns="38100" anchor="ctr">
            <a:spAutoFit/>
          </a:bodyPr>
          <a:lstStyle/>
          <a:p>
            <a:pPr algn="l"/>
            <a:r>
              <a:rPr sz="1900" b="1" i="0">
                <a:solidFill>
                  <a:srgbClr val="1E5155"/>
                </a:solidFill>
                <a:latin typeface="Century Gothic"/>
              </a:rPr>
              <a:t>Guardrails</a:t>
            </a:r>
          </a:p>
        </p:txBody>
      </p:sp>
      <p:sp>
        <p:nvSpPr>
          <p:cNvPr id="17" name="TextBox 16"/>
          <p:cNvSpPr txBox="1"/>
          <p:nvPr/>
        </p:nvSpPr>
        <p:spPr>
          <a:xfrm>
            <a:off x="4617720" y="3840480"/>
            <a:ext cx="6446520" cy="777240"/>
          </a:xfrm>
          <a:prstGeom prst="rect">
            <a:avLst/>
          </a:prstGeom>
          <a:noFill/>
        </p:spPr>
        <p:txBody>
          <a:bodyPr wrap="square" lIns="38100" rIns="38100" anchor="ctr">
            <a:spAutoFit/>
          </a:bodyPr>
          <a:lstStyle/>
          <a:p>
            <a:pPr algn="l"/>
            <a:r>
              <a:rPr sz="1600" b="0" i="0">
                <a:solidFill>
                  <a:srgbClr val="2A2A2A"/>
                </a:solidFill>
                <a:latin typeface="Century Gothic"/>
              </a:rPr>
              <a:t>stopping conditions, retries, human-in-the-loop</a:t>
            </a:r>
          </a:p>
        </p:txBody>
      </p:sp>
      <p:sp>
        <p:nvSpPr>
          <p:cNvPr id="18" name="Rounded Rectangle 17"/>
          <p:cNvSpPr/>
          <p:nvPr/>
        </p:nvSpPr>
        <p:spPr>
          <a:xfrm>
            <a:off x="822960" y="4709160"/>
            <a:ext cx="10515600" cy="777240"/>
          </a:xfrm>
          <a:prstGeom prst="roundRect">
            <a:avLst>
              <a:gd name="adj" fmla="val 16000"/>
            </a:avLst>
          </a:prstGeom>
          <a:solidFill>
            <a:srgbClr val="FBEADF"/>
          </a:solidFill>
          <a:ln w="15875">
            <a:solidFill>
              <a:srgbClr val="EA63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43000" y="4709160"/>
            <a:ext cx="3383280" cy="777240"/>
          </a:xfrm>
          <a:prstGeom prst="rect">
            <a:avLst/>
          </a:prstGeom>
          <a:noFill/>
        </p:spPr>
        <p:txBody>
          <a:bodyPr wrap="square" lIns="38100" rIns="38100" anchor="ctr">
            <a:spAutoFit/>
          </a:bodyPr>
          <a:lstStyle/>
          <a:p>
            <a:pPr algn="l"/>
            <a:r>
              <a:rPr sz="1900" b="1" i="0">
                <a:solidFill>
                  <a:srgbClr val="B5560F"/>
                </a:solidFill>
                <a:latin typeface="Century Gothic"/>
              </a:rPr>
              <a:t>Next</a:t>
            </a:r>
          </a:p>
        </p:txBody>
      </p:sp>
      <p:sp>
        <p:nvSpPr>
          <p:cNvPr id="20" name="TextBox 19"/>
          <p:cNvSpPr txBox="1"/>
          <p:nvPr/>
        </p:nvSpPr>
        <p:spPr>
          <a:xfrm>
            <a:off x="4617720" y="4709160"/>
            <a:ext cx="6446520" cy="777240"/>
          </a:xfrm>
          <a:prstGeom prst="rect">
            <a:avLst/>
          </a:prstGeom>
          <a:noFill/>
        </p:spPr>
        <p:txBody>
          <a:bodyPr wrap="square" lIns="38100" rIns="38100" anchor="ctr">
            <a:spAutoFit/>
          </a:bodyPr>
          <a:lstStyle/>
          <a:p>
            <a:pPr algn="l"/>
            <a:r>
              <a:rPr sz="1600" b="0" i="0">
                <a:solidFill>
                  <a:srgbClr val="2A2A2A"/>
                </a:solidFill>
                <a:latin typeface="Century Gothic"/>
              </a:rPr>
              <a:t>Context Engineering, then Multi-agent systems</a:t>
            </a:r>
          </a:p>
        </p:txBody>
      </p:sp>
    </p:spTree>
  </p:cSld>
  <p:clrMapOvr>
    <a:masterClrMapping/>
  </p:clrMapOvr>
</p:sld>
</file>

<file path=ppt/theme/theme1.xml><?xml version="1.0" encoding="utf-8"?>
<a:theme xmlns:a="http://schemas.openxmlformats.org/drawingml/2006/main" name="Office 2013 - 2022 Theme">
  <a:themeElements>
    <a:clrScheme name="Ion">
      <a:dk1>
        <a:srgbClr val="0B1F33"/>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Century Gothic"/>
        <a:font script="Hebr" typeface="Century Gothic"/>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entury Gothic"/>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Century Gothic"/>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Century Gothic"/>
        <a:font script="Hebr" typeface="Century Gothic"/>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entury Gothic"/>
        <a:font script="Uigh" typeface="Microsoft Uighur"/>
        <a:font script="Geor" typeface="Sylfaen"/>
        <a:font script="Armn" typeface="Century Gothic"/>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28234</TotalTime>
  <Words>2560</Words>
  <Application>Microsoft Macintosh PowerPoint</Application>
  <PresentationFormat>Widescreen</PresentationFormat>
  <Paragraphs>216</Paragraphs>
  <Slides>31</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Aptos</vt:lpstr>
      <vt:lpstr>Century Gothic</vt:lpstr>
      <vt:lpstr>Consolas</vt:lpstr>
      <vt:lpstr>Office 2013 - 2022 Theme</vt:lpstr>
      <vt:lpstr>ReAct Agent?</vt:lpstr>
      <vt:lpstr>Announcements</vt:lpstr>
      <vt:lpstr>From fixed workflows to collaborating agents</vt:lpstr>
      <vt:lpstr>PowerPoint Presentation</vt:lpstr>
      <vt:lpstr>PowerPoint Presentation</vt:lpstr>
      <vt:lpstr>PowerPoint Presentation</vt:lpstr>
      <vt:lpstr>PowerPoint Presentation</vt:lpstr>
      <vt:lpstr>Two kinds of memory: short- and long-term</vt:lpstr>
      <vt:lpstr>PowerPoint Presentation</vt:lpstr>
      <vt:lpstr>Reasoning and acting are stronger together</vt:lpstr>
      <vt:lpstr>The loop: Think, Act, Observe, repeat</vt:lpstr>
      <vt:lpstr>A ReAct run, one step at a time</vt:lpstr>
      <vt:lpstr>Guardrails keep the loop safe and bounded</vt:lpstr>
      <vt:lpstr>PowerPoint Presentation</vt:lpstr>
      <vt:lpstr>An agent acts by requesting a function call</vt:lpstr>
      <vt:lpstr>The system message is the agent's policy</vt:lpstr>
      <vt:lpstr>A tool is described as JSON</vt:lpstr>
      <vt:lpstr>A tool call is JSON built from a schema</vt:lpstr>
      <vt:lpstr>Example: a calculator tool, defined as JSON</vt:lpstr>
      <vt:lpstr>Descriptions say when; parameters say how</vt:lpstr>
      <vt:lpstr>Code tutorial: building a ReAct agent</vt:lpstr>
      <vt:lpstr>Three ways to give an agent tools</vt:lpstr>
      <vt:lpstr>MCP is a shared standard for connecting tools</vt:lpstr>
      <vt:lpstr>MCP exposes tools, resources, and prompts</vt:lpstr>
      <vt:lpstr>With code, an agent builds its own tools</vt:lpstr>
      <vt:lpstr>PowerPoint Presentation</vt:lpstr>
      <vt:lpstr>Plan first, then execute step by step</vt:lpstr>
      <vt:lpstr>Code planning: more power, less control</vt:lpstr>
      <vt:lpstr>ReAct adapts; planning commits up front</vt:lpstr>
      <vt:lpstr>PowerPoint Presentation</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Tiziana Ligorio</dc:creator>
  <cp:lastModifiedBy>Tiziana Ligorio</cp:lastModifiedBy>
  <cp:revision>20</cp:revision>
  <dcterms:created xsi:type="dcterms:W3CDTF">2025-09-19T13:35:56Z</dcterms:created>
  <dcterms:modified xsi:type="dcterms:W3CDTF">2026-09-30T12:18:12Z</dcterms:modified>
</cp:coreProperties>
</file>